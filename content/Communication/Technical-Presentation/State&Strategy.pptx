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8" r:id="rId3"/>
    <p:sldId id="259" r:id="rId4"/>
    <p:sldId id="261" r:id="rId5"/>
    <p:sldId id="263" r:id="rId6"/>
    <p:sldId id="262" r:id="rId7"/>
    <p:sldId id="257" r:id="rId8"/>
    <p:sldId id="264" r:id="rId9"/>
    <p:sldId id="265" r:id="rId10"/>
    <p:sldId id="266" r:id="rId11"/>
    <p:sldId id="267" r:id="rId12"/>
    <p:sldId id="282" r:id="rId13"/>
    <p:sldId id="268" r:id="rId14"/>
    <p:sldId id="269" r:id="rId15"/>
    <p:sldId id="270" r:id="rId16"/>
    <p:sldId id="275" r:id="rId17"/>
    <p:sldId id="285" r:id="rId18"/>
    <p:sldId id="284" r:id="rId19"/>
    <p:sldId id="283" r:id="rId20"/>
    <p:sldId id="271" r:id="rId21"/>
    <p:sldId id="278" r:id="rId22"/>
    <p:sldId id="279" r:id="rId23"/>
    <p:sldId id="280" r:id="rId24"/>
    <p:sldId id="272" r:id="rId25"/>
    <p:sldId id="273" r:id="rId26"/>
    <p:sldId id="274" r:id="rId27"/>
    <p:sldId id="281" r:id="rId2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3B5B"/>
    <a:srgbClr val="545482"/>
    <a:srgbClr val="9292B8"/>
    <a:srgbClr val="1E1E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23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7C58F5-84AE-445F-B8FE-89AEFB10A40A}" type="datetimeFigureOut">
              <a:rPr lang="fr-FR" smtClean="0"/>
              <a:t>01/12/2024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A04925-823F-4593-997D-9537DDB9467C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89997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A04925-823F-4593-997D-9537DDB9467C}" type="slidenum">
              <a:rPr lang="fr-FR" smtClean="0"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24972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1D10ED-9935-01E2-9867-1CF0120E33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66E59C0-101A-875A-C819-7F9431A2BF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E957097-D641-8956-32F7-9759902A6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84B11-9956-4C42-8422-FBF0B5C85AA2}" type="datetime1">
              <a:rPr lang="fr-FR" smtClean="0"/>
              <a:t>01/12/2024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BA678D3-BF62-B547-FC55-71CA6E01A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FE50C6-3AF5-0FC9-817F-13014BFBB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B3565-521F-4C94-BD9C-7BD2C42238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06905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021A73-8F47-95DD-F500-74AD071DB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BD94EB-7596-37CD-1459-E54437503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DC42AE9-ED40-2CB1-1828-FC7D0A4A1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D9F8-CB48-4E5E-821D-0A66B5E753EA}" type="datetime1">
              <a:rPr lang="fr-FR" smtClean="0"/>
              <a:t>01/12/2024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C7847B3-4326-AAE6-0BDB-1A987725E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A31BDC-8D99-DE6C-5DFF-DF53D1297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B3565-521F-4C94-BD9C-7BD2C42238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41522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805A17-35C6-0ADA-6A1B-CFB979F47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1581AD4-E8EB-7825-2B1B-B4C2B8A3D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29700A-4E74-08E7-DFFB-43F7B476A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7C91C-F73A-494E-A664-090A2B307232}" type="datetime1">
              <a:rPr lang="fr-FR" smtClean="0"/>
              <a:t>01/12/2024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57DF70A-03C3-449D-9ED0-38F1EC226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C3044F-52DC-EC8B-5790-6515F41B1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B3565-521F-4C94-BD9C-7BD2C42238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58107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C0D939-C7AD-511F-1B26-88440383A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B77EDF-9BDB-2F21-8507-4767C0A2AE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59701A1-C20E-AD75-B190-2AE13B4F34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B77A395-2EF1-AD84-119C-CDB1301CE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3852C-AA8B-4279-B988-9D3774A48954}" type="datetime1">
              <a:rPr lang="fr-FR" smtClean="0"/>
              <a:t>01/12/2024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3BDA5E3-BE69-79F7-9ACB-0F4F6668C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1BC207A-D6CB-FF4E-6AD6-1DDBEED48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B3565-521F-4C94-BD9C-7BD2C42238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99241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E0CB7F-38FA-DEE3-C136-54142B61C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5651D2C-FDD5-9C2D-74EA-183451614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7061FBD-520A-EE07-5D3B-0056BD8C3C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AD77AFC-9042-4421-3D96-EF776E4AE8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01E8AE7-9224-D37B-88AC-8C4BAD4A1F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380DD9C-9CBF-E33B-5ACA-B84915CF4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711DA-59EF-4796-BC08-7E2653EC6D4A}" type="datetime1">
              <a:rPr lang="fr-FR" smtClean="0"/>
              <a:t>01/12/2024</a:t>
            </a:fld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AA5BCFE-C837-99E7-35B6-E7CE15BC7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4B55471-EE65-278B-4DE6-8D4D30810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B3565-521F-4C94-BD9C-7BD2C42238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5694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2D27C2-6164-D26C-07AD-388CA7D2E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23616C8-1714-7D1A-3EB1-5E2FB82D3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5260A-5C6F-4D34-996C-EB19D49A9911}" type="datetime1">
              <a:rPr lang="fr-FR" smtClean="0"/>
              <a:t>01/12/2024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31FC4FC-FF18-F12C-D874-5F0BD6126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9D49530-F912-3053-F014-EB052AB7C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B3565-521F-4C94-BD9C-7BD2C42238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02892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95A50DB-CE31-373A-49A0-1EFF25B21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61D46-0D9A-4EDE-A241-D495840AC2D2}" type="datetime1">
              <a:rPr lang="fr-FR" smtClean="0"/>
              <a:t>01/12/2024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DF0B096-79C1-EF4F-3DF2-82936B181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E50281E-08D5-F780-5F5F-B00F8FA5B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B3565-521F-4C94-BD9C-7BD2C42238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43788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E815FC-1272-E657-5821-58E44D67C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824E34-5DF4-A111-7F66-271555098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10B3C4E-F3B9-D3F0-297E-BB55E6B461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AC94215-3C3F-1EC5-453B-6D50095F9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21D-9938-4F61-B0CC-D3EC47D092CF}" type="datetime1">
              <a:rPr lang="fr-FR" smtClean="0"/>
              <a:t>01/12/2024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D1F98C3-6A51-7B56-B7F2-03BEE6B11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8E0CCB6-F18E-6F4E-309F-B8D510EA9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B3565-521F-4C94-BD9C-7BD2C42238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2742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FF23A5-4D9F-C9FA-5839-0F88F64EF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3FB8423-DD53-BF20-B146-65703DB3C6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BD4CCFE-595E-6ED1-4D35-8E862E0BA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7251B62-D73E-F79D-FC02-F94EE33E3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08694-7BA3-48BE-B4C1-EC0DA6D8ED77}" type="datetime1">
              <a:rPr lang="fr-FR" smtClean="0"/>
              <a:t>01/12/2024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ADA6C66-8412-40B0-7228-FE75B4C97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CF5B68C-3F27-EDAA-17BF-27C07C616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B3565-521F-4C94-BD9C-7BD2C42238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5547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DE6E00-F9AC-A7F9-1281-3A9FDF16D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442DB41-4FA9-5141-B727-A47940BCC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EC10F75-D35B-228F-1F20-8B7265436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48BE1-9681-4479-B2CE-939974F02853}" type="datetime1">
              <a:rPr lang="fr-FR" smtClean="0"/>
              <a:t>01/12/2024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3C7F302-0F0B-D206-7244-01425D733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9258E1-9754-F6E8-6D34-881E69C38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B3565-521F-4C94-BD9C-7BD2C42238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3952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82661F7-4C99-3912-3093-1A9263FE67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54FBF83-2498-9105-93E1-0AFBFC31FA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A075DA0-A689-0C6A-F496-E7DCE7A75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7BFB5-FCCA-4BDE-B7A0-8BEFBEC4932F}" type="datetime1">
              <a:rPr lang="fr-FR" smtClean="0"/>
              <a:t>01/12/2024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8845443-B56C-FAC0-4B5B-0F00B750F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A887C1-59DC-D210-EAEF-33D0281B5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B3565-521F-4C94-BD9C-7BD2C42238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67253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8B02F82-6C39-53C7-CD5E-8BE57E488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1A1239E-9490-8365-4C6D-E1B091318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70A3CC-B49F-9AD1-57C5-1952B150B3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2D97D3-9EA0-4092-BA10-7B5153AC1A5B}" type="datetime1">
              <a:rPr lang="fr-FR" smtClean="0"/>
              <a:t>01/12/2024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D8D23A2-9BD4-5B64-31F3-E4599AC626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4266DE4-E108-5F32-BC8D-9B2B75365D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2B3565-521F-4C94-BD9C-7BD2C42238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93025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refactoring.guru/fr/design-patterns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C781694-05FF-6A33-47A1-2A02A83107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1E2E"/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CE38441-7793-B5D5-65D7-B21ACF236F1D}"/>
              </a:ext>
            </a:extLst>
          </p:cNvPr>
          <p:cNvSpPr txBox="1"/>
          <p:nvPr/>
        </p:nvSpPr>
        <p:spPr>
          <a:xfrm>
            <a:off x="3003430" y="1828799"/>
            <a:ext cx="618513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Strategy &amp; State Pattern </a:t>
            </a:r>
            <a:endParaRPr lang="fr-FR" sz="44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9223FE0-1471-6DE1-DF4D-AC277B873B52}"/>
              </a:ext>
            </a:extLst>
          </p:cNvPr>
          <p:cNvSpPr txBox="1"/>
          <p:nvPr/>
        </p:nvSpPr>
        <p:spPr>
          <a:xfrm>
            <a:off x="3740987" y="3397986"/>
            <a:ext cx="4710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{ Presented by Sacha and Theo }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7D313F3-71B4-E729-E9BD-3F450177C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B3565-521F-4C94-BD9C-7BD2C4223877}" type="slidenum">
              <a:rPr lang="fr-FR" smtClean="0"/>
              <a:t>1</a:t>
            </a:fld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8C4419E-27F2-578C-7C06-157CF99020D8}"/>
              </a:ext>
            </a:extLst>
          </p:cNvPr>
          <p:cNvSpPr txBox="1"/>
          <p:nvPr/>
        </p:nvSpPr>
        <p:spPr>
          <a:xfrm>
            <a:off x="10161917" y="0"/>
            <a:ext cx="2030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R3.04 - English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37A041A-ACFF-C035-480F-04B1077909E7}"/>
              </a:ext>
            </a:extLst>
          </p:cNvPr>
          <p:cNvSpPr txBox="1"/>
          <p:nvPr/>
        </p:nvSpPr>
        <p:spPr>
          <a:xfrm>
            <a:off x="86264" y="6371409"/>
            <a:ext cx="2622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bg1"/>
                </a:solidFill>
              </a:rPr>
              <a:t>02/12/2024</a:t>
            </a:r>
            <a:endParaRPr lang="fr-FR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95683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7C345-1687-EF4C-16F9-ECC9814BC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981FB-311F-B547-6B89-FB359DD7E85A}"/>
              </a:ext>
            </a:extLst>
          </p:cNvPr>
          <p:cNvSpPr/>
          <p:nvPr/>
        </p:nvSpPr>
        <p:spPr>
          <a:xfrm>
            <a:off x="0" y="-6924159"/>
            <a:ext cx="12192000" cy="6858000"/>
          </a:xfrm>
          <a:prstGeom prst="rect">
            <a:avLst/>
          </a:prstGeom>
          <a:solidFill>
            <a:srgbClr val="1E1E2E"/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F09EDFF-B1E7-EDD5-B0F9-883174F82A92}"/>
              </a:ext>
            </a:extLst>
          </p:cNvPr>
          <p:cNvSpPr txBox="1"/>
          <p:nvPr/>
        </p:nvSpPr>
        <p:spPr>
          <a:xfrm>
            <a:off x="3003428" y="136525"/>
            <a:ext cx="61851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3B3B5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Summary</a:t>
            </a:r>
            <a:endParaRPr lang="fr-FR" sz="4400" b="1" dirty="0">
              <a:solidFill>
                <a:srgbClr val="3B3B5B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E7EB88C-7FF8-FD65-1C77-D41728A7F343}"/>
              </a:ext>
            </a:extLst>
          </p:cNvPr>
          <p:cNvSpPr txBox="1"/>
          <p:nvPr/>
        </p:nvSpPr>
        <p:spPr>
          <a:xfrm>
            <a:off x="3740987" y="-3526173"/>
            <a:ext cx="4710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{ Presented by Sacha and Theo }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B530681-5AA1-0896-1D9B-DC875B1FD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B3565-521F-4C94-BD9C-7BD2C4223877}" type="slidenum">
              <a:rPr lang="fr-FR" smtClean="0"/>
              <a:t>2</a:t>
            </a:fld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DD698B0-A538-EC6D-8EFE-B30CA3B987CC}"/>
              </a:ext>
            </a:extLst>
          </p:cNvPr>
          <p:cNvSpPr txBox="1"/>
          <p:nvPr/>
        </p:nvSpPr>
        <p:spPr>
          <a:xfrm>
            <a:off x="10161917" y="-6858000"/>
            <a:ext cx="2030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R3.04 - English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6C5B4FC-0F7B-A68E-6370-C8841E4C39D5}"/>
              </a:ext>
            </a:extLst>
          </p:cNvPr>
          <p:cNvSpPr txBox="1"/>
          <p:nvPr/>
        </p:nvSpPr>
        <p:spPr>
          <a:xfrm>
            <a:off x="86264" y="-552750"/>
            <a:ext cx="2622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bg1"/>
                </a:solidFill>
              </a:rPr>
              <a:t>02/12/2024</a:t>
            </a:r>
            <a:endParaRPr lang="fr-FR" b="1" i="1" dirty="0">
              <a:solidFill>
                <a:schemeClr val="bg1"/>
              </a:solidFill>
            </a:endParaRP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F601BE9C-1EAF-96FC-EA1E-42A0D347ADD7}"/>
              </a:ext>
            </a:extLst>
          </p:cNvPr>
          <p:cNvSpPr/>
          <p:nvPr/>
        </p:nvSpPr>
        <p:spPr>
          <a:xfrm>
            <a:off x="5437235" y="6538912"/>
            <a:ext cx="1317523" cy="45719"/>
          </a:xfrm>
          <a:prstGeom prst="roundRect">
            <a:avLst>
              <a:gd name="adj" fmla="val 50000"/>
            </a:avLst>
          </a:prstGeom>
          <a:solidFill>
            <a:srgbClr val="5454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D89C3281-46FA-78E0-6A88-A009C63EDDEC}"/>
              </a:ext>
            </a:extLst>
          </p:cNvPr>
          <p:cNvCxnSpPr/>
          <p:nvPr/>
        </p:nvCxnSpPr>
        <p:spPr>
          <a:xfrm>
            <a:off x="350786" y="1364272"/>
            <a:ext cx="0" cy="4310103"/>
          </a:xfrm>
          <a:prstGeom prst="line">
            <a:avLst/>
          </a:prstGeom>
          <a:ln>
            <a:solidFill>
              <a:srgbClr val="9292B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Ellipse 10">
            <a:extLst>
              <a:ext uri="{FF2B5EF4-FFF2-40B4-BE49-F238E27FC236}">
                <a16:creationId xmlns:a16="http://schemas.microsoft.com/office/drawing/2014/main" id="{4EADD340-936D-701E-800F-988D25DBFBD1}"/>
              </a:ext>
            </a:extLst>
          </p:cNvPr>
          <p:cNvSpPr/>
          <p:nvPr/>
        </p:nvSpPr>
        <p:spPr>
          <a:xfrm>
            <a:off x="150276" y="1257928"/>
            <a:ext cx="407370" cy="407370"/>
          </a:xfrm>
          <a:prstGeom prst="ellipse">
            <a:avLst/>
          </a:prstGeom>
          <a:solidFill>
            <a:srgbClr val="9292B8"/>
          </a:solidFill>
          <a:ln>
            <a:solidFill>
              <a:srgbClr val="54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9292B8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B89A348-E912-4B3E-E397-D5267DAE6417}"/>
              </a:ext>
            </a:extLst>
          </p:cNvPr>
          <p:cNvSpPr txBox="1"/>
          <p:nvPr/>
        </p:nvSpPr>
        <p:spPr>
          <a:xfrm>
            <a:off x="4782773" y="4744307"/>
            <a:ext cx="262644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Prompt" panose="00000800000000000000" pitchFamily="2" charset="-34"/>
              </a:rPr>
              <a:t>State Pattern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7906F0EC-43B0-E75F-E7AD-3E07C24C6499}"/>
              </a:ext>
            </a:extLst>
          </p:cNvPr>
          <p:cNvSpPr txBox="1"/>
          <p:nvPr/>
        </p:nvSpPr>
        <p:spPr>
          <a:xfrm>
            <a:off x="8399975" y="4744307"/>
            <a:ext cx="262644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Prompt" panose="00000800000000000000" pitchFamily="2" charset="-34"/>
              </a:rPr>
              <a:t>Differences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B63943A-F773-A91C-6D24-BC921676CE9E}"/>
              </a:ext>
            </a:extLst>
          </p:cNvPr>
          <p:cNvSpPr txBox="1"/>
          <p:nvPr/>
        </p:nvSpPr>
        <p:spPr>
          <a:xfrm>
            <a:off x="1165571" y="4744307"/>
            <a:ext cx="262644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Prompt" panose="00000800000000000000" pitchFamily="2" charset="-34"/>
              </a:rPr>
              <a:t>Strategy Pattern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8171656-8FC9-5316-8A4D-9A9AE1C39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0" r="7790"/>
          <a:stretch/>
        </p:blipFill>
        <p:spPr bwMode="auto">
          <a:xfrm>
            <a:off x="885828" y="2179454"/>
            <a:ext cx="3185928" cy="2358672"/>
          </a:xfrm>
          <a:prstGeom prst="roundRect">
            <a:avLst>
              <a:gd name="adj" fmla="val 13436"/>
            </a:avLst>
          </a:pr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BD59BA57-1B1E-8115-AC14-4FE15B131A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5" r="6824"/>
          <a:stretch/>
        </p:blipFill>
        <p:spPr bwMode="auto">
          <a:xfrm>
            <a:off x="4503030" y="2179454"/>
            <a:ext cx="3185929" cy="2358672"/>
          </a:xfrm>
          <a:prstGeom prst="roundRect">
            <a:avLst/>
          </a:pr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1FFDFAAE-E456-9924-CBD9-1C20F92697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5" r="50993"/>
          <a:stretch/>
        </p:blipFill>
        <p:spPr bwMode="auto">
          <a:xfrm>
            <a:off x="8120230" y="2179454"/>
            <a:ext cx="1519071" cy="2358672"/>
          </a:xfrm>
          <a:custGeom>
            <a:avLst/>
            <a:gdLst>
              <a:gd name="connsiteX0" fmla="*/ 393120 w 1519071"/>
              <a:gd name="connsiteY0" fmla="*/ 0 h 2358672"/>
              <a:gd name="connsiteX1" fmla="*/ 1519071 w 1519071"/>
              <a:gd name="connsiteY1" fmla="*/ 0 h 2358672"/>
              <a:gd name="connsiteX2" fmla="*/ 1519071 w 1519071"/>
              <a:gd name="connsiteY2" fmla="*/ 2358672 h 2358672"/>
              <a:gd name="connsiteX3" fmla="*/ 393120 w 1519071"/>
              <a:gd name="connsiteY3" fmla="*/ 2358672 h 2358672"/>
              <a:gd name="connsiteX4" fmla="*/ 0 w 1519071"/>
              <a:gd name="connsiteY4" fmla="*/ 1965552 h 2358672"/>
              <a:gd name="connsiteX5" fmla="*/ 0 w 1519071"/>
              <a:gd name="connsiteY5" fmla="*/ 393120 h 2358672"/>
              <a:gd name="connsiteX6" fmla="*/ 393120 w 1519071"/>
              <a:gd name="connsiteY6" fmla="*/ 0 h 2358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9071" h="2358672">
                <a:moveTo>
                  <a:pt x="393120" y="0"/>
                </a:moveTo>
                <a:lnTo>
                  <a:pt x="1519071" y="0"/>
                </a:lnTo>
                <a:lnTo>
                  <a:pt x="1519071" y="2358672"/>
                </a:lnTo>
                <a:lnTo>
                  <a:pt x="393120" y="2358672"/>
                </a:lnTo>
                <a:cubicBezTo>
                  <a:pt x="176006" y="2358672"/>
                  <a:pt x="0" y="2182666"/>
                  <a:pt x="0" y="1965552"/>
                </a:cubicBezTo>
                <a:lnTo>
                  <a:pt x="0" y="393120"/>
                </a:lnTo>
                <a:cubicBezTo>
                  <a:pt x="0" y="176006"/>
                  <a:pt x="176006" y="0"/>
                  <a:pt x="393120" y="0"/>
                </a:cubicBezTo>
                <a:close/>
              </a:path>
            </a:pathLst>
          </a:cu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27BD334C-4527-3910-D18A-901183E775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31"/>
          <a:stretch/>
        </p:blipFill>
        <p:spPr bwMode="auto">
          <a:xfrm>
            <a:off x="9639301" y="2179454"/>
            <a:ext cx="1666859" cy="2358672"/>
          </a:xfrm>
          <a:custGeom>
            <a:avLst/>
            <a:gdLst>
              <a:gd name="connsiteX0" fmla="*/ 0 w 1666859"/>
              <a:gd name="connsiteY0" fmla="*/ 0 h 2358672"/>
              <a:gd name="connsiteX1" fmla="*/ 1349948 w 1666859"/>
              <a:gd name="connsiteY1" fmla="*/ 0 h 2358672"/>
              <a:gd name="connsiteX2" fmla="*/ 1666859 w 1666859"/>
              <a:gd name="connsiteY2" fmla="*/ 316911 h 2358672"/>
              <a:gd name="connsiteX3" fmla="*/ 1666859 w 1666859"/>
              <a:gd name="connsiteY3" fmla="*/ 2041761 h 2358672"/>
              <a:gd name="connsiteX4" fmla="*/ 1349948 w 1666859"/>
              <a:gd name="connsiteY4" fmla="*/ 2358672 h 2358672"/>
              <a:gd name="connsiteX5" fmla="*/ 0 w 1666859"/>
              <a:gd name="connsiteY5" fmla="*/ 2358672 h 2358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6859" h="2358672">
                <a:moveTo>
                  <a:pt x="0" y="0"/>
                </a:moveTo>
                <a:lnTo>
                  <a:pt x="1349948" y="0"/>
                </a:lnTo>
                <a:cubicBezTo>
                  <a:pt x="1524973" y="0"/>
                  <a:pt x="1666859" y="141886"/>
                  <a:pt x="1666859" y="316911"/>
                </a:cubicBezTo>
                <a:lnTo>
                  <a:pt x="1666859" y="2041761"/>
                </a:lnTo>
                <a:cubicBezTo>
                  <a:pt x="1666859" y="2216786"/>
                  <a:pt x="1524973" y="2358672"/>
                  <a:pt x="1349948" y="2358672"/>
                </a:cubicBezTo>
                <a:lnTo>
                  <a:pt x="0" y="2358672"/>
                </a:lnTo>
                <a:close/>
              </a:path>
            </a:pathLst>
          </a:cu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6235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94DCB-1C5A-AF8D-2756-C44F01A95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ZoneTexte 18">
            <a:extLst>
              <a:ext uri="{FF2B5EF4-FFF2-40B4-BE49-F238E27FC236}">
                <a16:creationId xmlns:a16="http://schemas.microsoft.com/office/drawing/2014/main" id="{8345EA8F-4053-026B-E9BE-A0C30E66EF7E}"/>
              </a:ext>
            </a:extLst>
          </p:cNvPr>
          <p:cNvSpPr txBox="1"/>
          <p:nvPr/>
        </p:nvSpPr>
        <p:spPr>
          <a:xfrm>
            <a:off x="3337377" y="1542492"/>
            <a:ext cx="55172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0" i="0" u="none" strike="noStrike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Encapsulates interchangeable behaviors into separate classes, allowing the behavior of a class to be dynamically changed at runtime</a:t>
            </a:r>
            <a:endParaRPr lang="fr-FR" sz="1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DEF97DC-2FA7-56A8-20E2-A073FB0AE5B1}"/>
              </a:ext>
            </a:extLst>
          </p:cNvPr>
          <p:cNvSpPr txBox="1"/>
          <p:nvPr/>
        </p:nvSpPr>
        <p:spPr>
          <a:xfrm>
            <a:off x="3003425" y="136525"/>
            <a:ext cx="61851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3B3B5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Strategy Pattern</a:t>
            </a:r>
            <a:endParaRPr lang="fr-FR" sz="4400" b="1" dirty="0">
              <a:solidFill>
                <a:srgbClr val="3B3B5B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7BA043C-813A-9854-4B1A-F06FF9D59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B3565-521F-4C94-BD9C-7BD2C4223877}" type="slidenum">
              <a:rPr lang="fr-FR" smtClean="0"/>
              <a:t>3</a:t>
            </a:fld>
            <a:endParaRPr lang="fr-FR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9CAABAAF-8997-0F0D-746B-14AD92B035E4}"/>
              </a:ext>
            </a:extLst>
          </p:cNvPr>
          <p:cNvSpPr/>
          <p:nvPr/>
        </p:nvSpPr>
        <p:spPr>
          <a:xfrm>
            <a:off x="5437235" y="6538912"/>
            <a:ext cx="1317523" cy="45719"/>
          </a:xfrm>
          <a:prstGeom prst="roundRect">
            <a:avLst>
              <a:gd name="adj" fmla="val 50000"/>
            </a:avLst>
          </a:prstGeom>
          <a:solidFill>
            <a:srgbClr val="5454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C83F290E-AF35-0B4D-7EEA-326F63A47D43}"/>
              </a:ext>
            </a:extLst>
          </p:cNvPr>
          <p:cNvCxnSpPr/>
          <p:nvPr/>
        </p:nvCxnSpPr>
        <p:spPr>
          <a:xfrm>
            <a:off x="350786" y="1364272"/>
            <a:ext cx="0" cy="4310103"/>
          </a:xfrm>
          <a:prstGeom prst="line">
            <a:avLst/>
          </a:prstGeom>
          <a:ln>
            <a:solidFill>
              <a:srgbClr val="9292B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Ellipse 10">
            <a:extLst>
              <a:ext uri="{FF2B5EF4-FFF2-40B4-BE49-F238E27FC236}">
                <a16:creationId xmlns:a16="http://schemas.microsoft.com/office/drawing/2014/main" id="{134DDFBE-6744-EA8E-3A6D-7AF6145D008E}"/>
              </a:ext>
            </a:extLst>
          </p:cNvPr>
          <p:cNvSpPr/>
          <p:nvPr/>
        </p:nvSpPr>
        <p:spPr>
          <a:xfrm>
            <a:off x="150276" y="1985138"/>
            <a:ext cx="407370" cy="407370"/>
          </a:xfrm>
          <a:prstGeom prst="ellipse">
            <a:avLst/>
          </a:prstGeom>
          <a:solidFill>
            <a:srgbClr val="9292B8"/>
          </a:solidFill>
          <a:ln>
            <a:solidFill>
              <a:srgbClr val="54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9292B8"/>
              </a:solidFill>
            </a:endParaRPr>
          </a:p>
        </p:txBody>
      </p:sp>
      <p:pic>
        <p:nvPicPr>
          <p:cNvPr id="25" name="Picture 2">
            <a:extLst>
              <a:ext uri="{FF2B5EF4-FFF2-40B4-BE49-F238E27FC236}">
                <a16:creationId xmlns:a16="http://schemas.microsoft.com/office/drawing/2014/main" id="{86628CB6-BB86-4CB8-BE58-22BB30FF4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0" r="7790"/>
          <a:stretch/>
        </p:blipFill>
        <p:spPr bwMode="auto">
          <a:xfrm>
            <a:off x="2866979" y="1128752"/>
            <a:ext cx="6458029" cy="4781141"/>
          </a:xfrm>
          <a:prstGeom prst="roundRect">
            <a:avLst>
              <a:gd name="adj" fmla="val 13436"/>
            </a:avLst>
          </a:pr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DAE18A37-9830-8F91-F138-5CC7AC1DCA10}"/>
              </a:ext>
            </a:extLst>
          </p:cNvPr>
          <p:cNvSpPr txBox="1"/>
          <p:nvPr/>
        </p:nvSpPr>
        <p:spPr>
          <a:xfrm>
            <a:off x="13279073" y="4744307"/>
            <a:ext cx="262644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Prompt" panose="00000800000000000000" pitchFamily="2" charset="-34"/>
              </a:rPr>
              <a:t>State Pattern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31B017B-2CD6-B637-58B8-96E39FEC4CAD}"/>
              </a:ext>
            </a:extLst>
          </p:cNvPr>
          <p:cNvSpPr txBox="1"/>
          <p:nvPr/>
        </p:nvSpPr>
        <p:spPr>
          <a:xfrm>
            <a:off x="16896275" y="4744307"/>
            <a:ext cx="262644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Prompt" panose="00000800000000000000" pitchFamily="2" charset="-34"/>
              </a:rPr>
              <a:t>Differences</a:t>
            </a:r>
          </a:p>
        </p:txBody>
      </p:sp>
      <p:pic>
        <p:nvPicPr>
          <p:cNvPr id="30" name="Picture 4">
            <a:extLst>
              <a:ext uri="{FF2B5EF4-FFF2-40B4-BE49-F238E27FC236}">
                <a16:creationId xmlns:a16="http://schemas.microsoft.com/office/drawing/2014/main" id="{07B63021-CB0D-8A89-3161-297520B44D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5" r="6824"/>
          <a:stretch/>
        </p:blipFill>
        <p:spPr bwMode="auto">
          <a:xfrm>
            <a:off x="12999330" y="2179454"/>
            <a:ext cx="3185929" cy="2358672"/>
          </a:xfrm>
          <a:prstGeom prst="roundRect">
            <a:avLst/>
          </a:pr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03C86696-395D-7663-E352-D240F9A5C3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5" r="50993"/>
          <a:stretch/>
        </p:blipFill>
        <p:spPr bwMode="auto">
          <a:xfrm>
            <a:off x="16616530" y="2179454"/>
            <a:ext cx="1519071" cy="2358672"/>
          </a:xfrm>
          <a:custGeom>
            <a:avLst/>
            <a:gdLst>
              <a:gd name="connsiteX0" fmla="*/ 393120 w 1519071"/>
              <a:gd name="connsiteY0" fmla="*/ 0 h 2358672"/>
              <a:gd name="connsiteX1" fmla="*/ 1519071 w 1519071"/>
              <a:gd name="connsiteY1" fmla="*/ 0 h 2358672"/>
              <a:gd name="connsiteX2" fmla="*/ 1519071 w 1519071"/>
              <a:gd name="connsiteY2" fmla="*/ 2358672 h 2358672"/>
              <a:gd name="connsiteX3" fmla="*/ 393120 w 1519071"/>
              <a:gd name="connsiteY3" fmla="*/ 2358672 h 2358672"/>
              <a:gd name="connsiteX4" fmla="*/ 0 w 1519071"/>
              <a:gd name="connsiteY4" fmla="*/ 1965552 h 2358672"/>
              <a:gd name="connsiteX5" fmla="*/ 0 w 1519071"/>
              <a:gd name="connsiteY5" fmla="*/ 393120 h 2358672"/>
              <a:gd name="connsiteX6" fmla="*/ 393120 w 1519071"/>
              <a:gd name="connsiteY6" fmla="*/ 0 h 2358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9071" h="2358672">
                <a:moveTo>
                  <a:pt x="393120" y="0"/>
                </a:moveTo>
                <a:lnTo>
                  <a:pt x="1519071" y="0"/>
                </a:lnTo>
                <a:lnTo>
                  <a:pt x="1519071" y="2358672"/>
                </a:lnTo>
                <a:lnTo>
                  <a:pt x="393120" y="2358672"/>
                </a:lnTo>
                <a:cubicBezTo>
                  <a:pt x="176006" y="2358672"/>
                  <a:pt x="0" y="2182666"/>
                  <a:pt x="0" y="1965552"/>
                </a:cubicBezTo>
                <a:lnTo>
                  <a:pt x="0" y="393120"/>
                </a:lnTo>
                <a:cubicBezTo>
                  <a:pt x="0" y="176006"/>
                  <a:pt x="176006" y="0"/>
                  <a:pt x="393120" y="0"/>
                </a:cubicBezTo>
                <a:close/>
              </a:path>
            </a:pathLst>
          </a:cu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A95E326D-1607-9208-6957-78D4743416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31"/>
          <a:stretch/>
        </p:blipFill>
        <p:spPr bwMode="auto">
          <a:xfrm>
            <a:off x="18135601" y="2179454"/>
            <a:ext cx="1666859" cy="2358672"/>
          </a:xfrm>
          <a:custGeom>
            <a:avLst/>
            <a:gdLst>
              <a:gd name="connsiteX0" fmla="*/ 0 w 1666859"/>
              <a:gd name="connsiteY0" fmla="*/ 0 h 2358672"/>
              <a:gd name="connsiteX1" fmla="*/ 1349948 w 1666859"/>
              <a:gd name="connsiteY1" fmla="*/ 0 h 2358672"/>
              <a:gd name="connsiteX2" fmla="*/ 1666859 w 1666859"/>
              <a:gd name="connsiteY2" fmla="*/ 316911 h 2358672"/>
              <a:gd name="connsiteX3" fmla="*/ 1666859 w 1666859"/>
              <a:gd name="connsiteY3" fmla="*/ 2041761 h 2358672"/>
              <a:gd name="connsiteX4" fmla="*/ 1349948 w 1666859"/>
              <a:gd name="connsiteY4" fmla="*/ 2358672 h 2358672"/>
              <a:gd name="connsiteX5" fmla="*/ 0 w 1666859"/>
              <a:gd name="connsiteY5" fmla="*/ 2358672 h 2358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6859" h="2358672">
                <a:moveTo>
                  <a:pt x="0" y="0"/>
                </a:moveTo>
                <a:lnTo>
                  <a:pt x="1349948" y="0"/>
                </a:lnTo>
                <a:cubicBezTo>
                  <a:pt x="1524973" y="0"/>
                  <a:pt x="1666859" y="141886"/>
                  <a:pt x="1666859" y="316911"/>
                </a:cubicBezTo>
                <a:lnTo>
                  <a:pt x="1666859" y="2041761"/>
                </a:lnTo>
                <a:cubicBezTo>
                  <a:pt x="1666859" y="2216786"/>
                  <a:pt x="1524973" y="2358672"/>
                  <a:pt x="1349948" y="2358672"/>
                </a:cubicBezTo>
                <a:lnTo>
                  <a:pt x="0" y="2358672"/>
                </a:lnTo>
                <a:close/>
              </a:path>
            </a:pathLst>
          </a:cu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3612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2FFB6-3E34-32DF-F997-404ECF77C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EC282048-CCF4-BF6E-171B-AEA0FFC18679}"/>
              </a:ext>
            </a:extLst>
          </p:cNvPr>
          <p:cNvSpPr txBox="1"/>
          <p:nvPr/>
        </p:nvSpPr>
        <p:spPr>
          <a:xfrm>
            <a:off x="3003425" y="136525"/>
            <a:ext cx="61851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3B3B5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Strategy Pattern</a:t>
            </a:r>
            <a:endParaRPr lang="fr-FR" sz="4400" b="1" dirty="0">
              <a:solidFill>
                <a:srgbClr val="3B3B5B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D75D367-A966-F7BD-1715-9FD35BD60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B3565-521F-4C94-BD9C-7BD2C4223877}" type="slidenum">
              <a:rPr lang="fr-FR" smtClean="0"/>
              <a:t>4</a:t>
            </a:fld>
            <a:endParaRPr lang="fr-FR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A1021145-3B72-5042-9468-78E4EFC9E8FA}"/>
              </a:ext>
            </a:extLst>
          </p:cNvPr>
          <p:cNvSpPr/>
          <p:nvPr/>
        </p:nvSpPr>
        <p:spPr>
          <a:xfrm>
            <a:off x="5437235" y="6538912"/>
            <a:ext cx="1317523" cy="45719"/>
          </a:xfrm>
          <a:prstGeom prst="roundRect">
            <a:avLst>
              <a:gd name="adj" fmla="val 50000"/>
            </a:avLst>
          </a:prstGeom>
          <a:solidFill>
            <a:srgbClr val="5454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CC9284E9-ED2E-AAA8-2990-3A4327D8F724}"/>
              </a:ext>
            </a:extLst>
          </p:cNvPr>
          <p:cNvCxnSpPr/>
          <p:nvPr/>
        </p:nvCxnSpPr>
        <p:spPr>
          <a:xfrm>
            <a:off x="350786" y="1364272"/>
            <a:ext cx="0" cy="4310103"/>
          </a:xfrm>
          <a:prstGeom prst="line">
            <a:avLst/>
          </a:prstGeom>
          <a:ln>
            <a:solidFill>
              <a:srgbClr val="9292B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Ellipse 10">
            <a:extLst>
              <a:ext uri="{FF2B5EF4-FFF2-40B4-BE49-F238E27FC236}">
                <a16:creationId xmlns:a16="http://schemas.microsoft.com/office/drawing/2014/main" id="{F05F5CE0-080D-EF71-EFA4-C086FD55D1B9}"/>
              </a:ext>
            </a:extLst>
          </p:cNvPr>
          <p:cNvSpPr/>
          <p:nvPr/>
        </p:nvSpPr>
        <p:spPr>
          <a:xfrm>
            <a:off x="150276" y="3358790"/>
            <a:ext cx="407370" cy="407370"/>
          </a:xfrm>
          <a:prstGeom prst="ellipse">
            <a:avLst/>
          </a:prstGeom>
          <a:solidFill>
            <a:srgbClr val="9292B8"/>
          </a:solidFill>
          <a:ln>
            <a:solidFill>
              <a:srgbClr val="54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9292B8"/>
              </a:solidFill>
            </a:endParaRP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2657D3D1-2D58-C281-5FF9-1AB33308064B}"/>
              </a:ext>
            </a:extLst>
          </p:cNvPr>
          <p:cNvGrpSpPr/>
          <p:nvPr/>
        </p:nvGrpSpPr>
        <p:grpSpPr>
          <a:xfrm>
            <a:off x="12587488" y="2179454"/>
            <a:ext cx="3185929" cy="2903407"/>
            <a:chOff x="12587488" y="2179454"/>
            <a:chExt cx="3185929" cy="2903407"/>
          </a:xfrm>
        </p:grpSpPr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016100EC-51EB-1ED4-D2E7-6A4AC753C364}"/>
                </a:ext>
              </a:extLst>
            </p:cNvPr>
            <p:cNvSpPr txBox="1"/>
            <p:nvPr/>
          </p:nvSpPr>
          <p:spPr>
            <a:xfrm>
              <a:off x="12867231" y="4744307"/>
              <a:ext cx="2626441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b="1" dirty="0">
                  <a:latin typeface="Verdana" panose="020B0604030504040204" pitchFamily="34" charset="0"/>
                  <a:ea typeface="Verdana" panose="020B0604030504040204" pitchFamily="34" charset="0"/>
                  <a:cs typeface="Prompt" panose="00000800000000000000" pitchFamily="2" charset="-34"/>
                </a:rPr>
                <a:t>State Pattern</a:t>
              </a:r>
            </a:p>
          </p:txBody>
        </p:sp>
        <p:pic>
          <p:nvPicPr>
            <p:cNvPr id="3076" name="Picture 4">
              <a:extLst>
                <a:ext uri="{FF2B5EF4-FFF2-40B4-BE49-F238E27FC236}">
                  <a16:creationId xmlns:a16="http://schemas.microsoft.com/office/drawing/2014/main" id="{4C8FEDFE-887C-F0EF-93A0-A8CBB209B84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55" r="6824"/>
            <a:stretch/>
          </p:blipFill>
          <p:spPr bwMode="auto">
            <a:xfrm>
              <a:off x="12587488" y="2179454"/>
              <a:ext cx="3185929" cy="2358672"/>
            </a:xfrm>
            <a:prstGeom prst="roundRect">
              <a:avLst/>
            </a:prstGeom>
            <a:noFill/>
            <a:ln>
              <a:solidFill>
                <a:srgbClr val="54548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320A96F8-11E9-16C9-C0B9-93A16B27A41C}"/>
              </a:ext>
            </a:extLst>
          </p:cNvPr>
          <p:cNvGrpSpPr/>
          <p:nvPr/>
        </p:nvGrpSpPr>
        <p:grpSpPr>
          <a:xfrm>
            <a:off x="12587488" y="2179454"/>
            <a:ext cx="3185930" cy="2903407"/>
            <a:chOff x="16204688" y="2179454"/>
            <a:chExt cx="3185930" cy="2903407"/>
          </a:xfrm>
        </p:grpSpPr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BA0B6DF6-A7CA-C48D-AB09-A4521131E5F7}"/>
                </a:ext>
              </a:extLst>
            </p:cNvPr>
            <p:cNvSpPr txBox="1"/>
            <p:nvPr/>
          </p:nvSpPr>
          <p:spPr>
            <a:xfrm>
              <a:off x="16484433" y="4744307"/>
              <a:ext cx="2626441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b="1" dirty="0">
                  <a:latin typeface="Verdana" panose="020B0604030504040204" pitchFamily="34" charset="0"/>
                  <a:ea typeface="Verdana" panose="020B0604030504040204" pitchFamily="34" charset="0"/>
                  <a:cs typeface="Prompt" panose="00000800000000000000" pitchFamily="2" charset="-34"/>
                </a:rPr>
                <a:t>Differences</a:t>
              </a:r>
            </a:p>
          </p:txBody>
        </p:sp>
        <p:pic>
          <p:nvPicPr>
            <p:cNvPr id="24" name="Image 23">
              <a:extLst>
                <a:ext uri="{FF2B5EF4-FFF2-40B4-BE49-F238E27FC236}">
                  <a16:creationId xmlns:a16="http://schemas.microsoft.com/office/drawing/2014/main" id="{95671DAA-2C94-6CB3-E992-AAB442A8DD5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55" r="50993"/>
            <a:stretch/>
          </p:blipFill>
          <p:spPr bwMode="auto">
            <a:xfrm>
              <a:off x="16204688" y="2179454"/>
              <a:ext cx="1519071" cy="2358672"/>
            </a:xfrm>
            <a:custGeom>
              <a:avLst/>
              <a:gdLst>
                <a:gd name="connsiteX0" fmla="*/ 393120 w 1519071"/>
                <a:gd name="connsiteY0" fmla="*/ 0 h 2358672"/>
                <a:gd name="connsiteX1" fmla="*/ 1519071 w 1519071"/>
                <a:gd name="connsiteY1" fmla="*/ 0 h 2358672"/>
                <a:gd name="connsiteX2" fmla="*/ 1519071 w 1519071"/>
                <a:gd name="connsiteY2" fmla="*/ 2358672 h 2358672"/>
                <a:gd name="connsiteX3" fmla="*/ 393120 w 1519071"/>
                <a:gd name="connsiteY3" fmla="*/ 2358672 h 2358672"/>
                <a:gd name="connsiteX4" fmla="*/ 0 w 1519071"/>
                <a:gd name="connsiteY4" fmla="*/ 1965552 h 2358672"/>
                <a:gd name="connsiteX5" fmla="*/ 0 w 1519071"/>
                <a:gd name="connsiteY5" fmla="*/ 393120 h 2358672"/>
                <a:gd name="connsiteX6" fmla="*/ 393120 w 1519071"/>
                <a:gd name="connsiteY6" fmla="*/ 0 h 2358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19071" h="2358672">
                  <a:moveTo>
                    <a:pt x="393120" y="0"/>
                  </a:moveTo>
                  <a:lnTo>
                    <a:pt x="1519071" y="0"/>
                  </a:lnTo>
                  <a:lnTo>
                    <a:pt x="1519071" y="2358672"/>
                  </a:lnTo>
                  <a:lnTo>
                    <a:pt x="393120" y="2358672"/>
                  </a:lnTo>
                  <a:cubicBezTo>
                    <a:pt x="176006" y="2358672"/>
                    <a:pt x="0" y="2182666"/>
                    <a:pt x="0" y="1965552"/>
                  </a:cubicBezTo>
                  <a:lnTo>
                    <a:pt x="0" y="393120"/>
                  </a:lnTo>
                  <a:cubicBezTo>
                    <a:pt x="0" y="176006"/>
                    <a:pt x="176006" y="0"/>
                    <a:pt x="393120" y="0"/>
                  </a:cubicBezTo>
                  <a:close/>
                </a:path>
              </a:pathLst>
            </a:custGeom>
            <a:noFill/>
            <a:ln>
              <a:solidFill>
                <a:srgbClr val="54548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Image 21">
              <a:extLst>
                <a:ext uri="{FF2B5EF4-FFF2-40B4-BE49-F238E27FC236}">
                  <a16:creationId xmlns:a16="http://schemas.microsoft.com/office/drawing/2014/main" id="{F338F943-CD75-EE3B-B975-CCCBF2F698E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831"/>
            <a:stretch/>
          </p:blipFill>
          <p:spPr bwMode="auto">
            <a:xfrm>
              <a:off x="17723759" y="2179454"/>
              <a:ext cx="1666859" cy="2358672"/>
            </a:xfrm>
            <a:custGeom>
              <a:avLst/>
              <a:gdLst>
                <a:gd name="connsiteX0" fmla="*/ 0 w 1666859"/>
                <a:gd name="connsiteY0" fmla="*/ 0 h 2358672"/>
                <a:gd name="connsiteX1" fmla="*/ 1349948 w 1666859"/>
                <a:gd name="connsiteY1" fmla="*/ 0 h 2358672"/>
                <a:gd name="connsiteX2" fmla="*/ 1666859 w 1666859"/>
                <a:gd name="connsiteY2" fmla="*/ 316911 h 2358672"/>
                <a:gd name="connsiteX3" fmla="*/ 1666859 w 1666859"/>
                <a:gd name="connsiteY3" fmla="*/ 2041761 h 2358672"/>
                <a:gd name="connsiteX4" fmla="*/ 1349948 w 1666859"/>
                <a:gd name="connsiteY4" fmla="*/ 2358672 h 2358672"/>
                <a:gd name="connsiteX5" fmla="*/ 0 w 1666859"/>
                <a:gd name="connsiteY5" fmla="*/ 2358672 h 2358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66859" h="2358672">
                  <a:moveTo>
                    <a:pt x="0" y="0"/>
                  </a:moveTo>
                  <a:lnTo>
                    <a:pt x="1349948" y="0"/>
                  </a:lnTo>
                  <a:cubicBezTo>
                    <a:pt x="1524973" y="0"/>
                    <a:pt x="1666859" y="141886"/>
                    <a:pt x="1666859" y="316911"/>
                  </a:cubicBezTo>
                  <a:lnTo>
                    <a:pt x="1666859" y="2041761"/>
                  </a:lnTo>
                  <a:cubicBezTo>
                    <a:pt x="1666859" y="2216786"/>
                    <a:pt x="1524973" y="2358672"/>
                    <a:pt x="1349948" y="2358672"/>
                  </a:cubicBezTo>
                  <a:lnTo>
                    <a:pt x="0" y="2358672"/>
                  </a:lnTo>
                  <a:close/>
                </a:path>
              </a:pathLst>
            </a:custGeom>
            <a:noFill/>
            <a:ln>
              <a:solidFill>
                <a:srgbClr val="54548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" name="Picture 2">
            <a:extLst>
              <a:ext uri="{FF2B5EF4-FFF2-40B4-BE49-F238E27FC236}">
                <a16:creationId xmlns:a16="http://schemas.microsoft.com/office/drawing/2014/main" id="{8EE52781-22CE-8F47-3E86-F3866BDC3C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02" r="7790"/>
          <a:stretch/>
        </p:blipFill>
        <p:spPr bwMode="auto">
          <a:xfrm>
            <a:off x="7576457" y="1542492"/>
            <a:ext cx="4465267" cy="4177331"/>
          </a:xfrm>
          <a:prstGeom prst="roundRect">
            <a:avLst>
              <a:gd name="adj" fmla="val 13436"/>
            </a:avLst>
          </a:pr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DEF978AB-A592-A031-739B-15FC693AAE1A}"/>
              </a:ext>
            </a:extLst>
          </p:cNvPr>
          <p:cNvSpPr txBox="1"/>
          <p:nvPr/>
        </p:nvSpPr>
        <p:spPr>
          <a:xfrm>
            <a:off x="1233714" y="1542492"/>
            <a:ext cx="55172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Encapsulates interchangeable behaviors into separate classes, allowing the behavior of a class to be dynamically changed at runtime</a:t>
            </a:r>
            <a:endParaRPr lang="fr-FR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8434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6694C-B76D-3988-13FB-A7EF69A13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AC7ACBE1-D030-0FAE-D8BF-835A7517169D}"/>
              </a:ext>
            </a:extLst>
          </p:cNvPr>
          <p:cNvSpPr txBox="1"/>
          <p:nvPr/>
        </p:nvSpPr>
        <p:spPr>
          <a:xfrm>
            <a:off x="3003425" y="136525"/>
            <a:ext cx="61851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3B3B5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Strategy Pattern</a:t>
            </a:r>
            <a:endParaRPr lang="fr-FR" sz="4400" b="1" dirty="0">
              <a:solidFill>
                <a:srgbClr val="3B3B5B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7CA5A7E-E69C-29DB-EB86-2D8B8D26B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B3565-521F-4C94-BD9C-7BD2C4223877}" type="slidenum">
              <a:rPr lang="fr-FR" smtClean="0"/>
              <a:t>5</a:t>
            </a:fld>
            <a:endParaRPr lang="fr-FR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BCC45B52-98E1-C4E4-4D0D-71B992768409}"/>
              </a:ext>
            </a:extLst>
          </p:cNvPr>
          <p:cNvSpPr/>
          <p:nvPr/>
        </p:nvSpPr>
        <p:spPr>
          <a:xfrm>
            <a:off x="5437235" y="6538912"/>
            <a:ext cx="1317523" cy="45719"/>
          </a:xfrm>
          <a:prstGeom prst="roundRect">
            <a:avLst>
              <a:gd name="adj" fmla="val 50000"/>
            </a:avLst>
          </a:prstGeom>
          <a:solidFill>
            <a:srgbClr val="5454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F31A3676-8597-EC92-F57D-99C9F5AF6298}"/>
              </a:ext>
            </a:extLst>
          </p:cNvPr>
          <p:cNvCxnSpPr/>
          <p:nvPr/>
        </p:nvCxnSpPr>
        <p:spPr>
          <a:xfrm>
            <a:off x="350786" y="1364272"/>
            <a:ext cx="0" cy="4310103"/>
          </a:xfrm>
          <a:prstGeom prst="line">
            <a:avLst/>
          </a:prstGeom>
          <a:ln>
            <a:solidFill>
              <a:srgbClr val="9292B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Ellipse 10">
            <a:extLst>
              <a:ext uri="{FF2B5EF4-FFF2-40B4-BE49-F238E27FC236}">
                <a16:creationId xmlns:a16="http://schemas.microsoft.com/office/drawing/2014/main" id="{1CEDCA62-5A8A-300A-398A-8B5A28F8667B}"/>
              </a:ext>
            </a:extLst>
          </p:cNvPr>
          <p:cNvSpPr/>
          <p:nvPr/>
        </p:nvSpPr>
        <p:spPr>
          <a:xfrm>
            <a:off x="150276" y="3753385"/>
            <a:ext cx="407370" cy="407370"/>
          </a:xfrm>
          <a:prstGeom prst="ellipse">
            <a:avLst/>
          </a:prstGeom>
          <a:solidFill>
            <a:srgbClr val="9292B8"/>
          </a:solidFill>
          <a:ln>
            <a:solidFill>
              <a:srgbClr val="54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9292B8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3793AFD9-F6F3-6EB6-6EFC-35722954F0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02" r="7790"/>
          <a:stretch/>
        </p:blipFill>
        <p:spPr bwMode="auto">
          <a:xfrm>
            <a:off x="7576457" y="1542492"/>
            <a:ext cx="4465267" cy="4177331"/>
          </a:xfrm>
          <a:prstGeom prst="roundRect">
            <a:avLst>
              <a:gd name="adj" fmla="val 13436"/>
            </a:avLst>
          </a:pr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BD6E6BC-3E48-F910-5150-6A21BE4C4F57}"/>
              </a:ext>
            </a:extLst>
          </p:cNvPr>
          <p:cNvSpPr txBox="1"/>
          <p:nvPr/>
        </p:nvSpPr>
        <p:spPr>
          <a:xfrm>
            <a:off x="1233714" y="1542492"/>
            <a:ext cx="55172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Encapsulates interchangeable behaviors into separate classes, allowing the behavior of a class to be dynamically changed at runtime</a:t>
            </a:r>
            <a:endParaRPr lang="fr-FR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D24D617-4736-85EC-03DE-32E580A892A4}"/>
              </a:ext>
            </a:extLst>
          </p:cNvPr>
          <p:cNvSpPr txBox="1"/>
          <p:nvPr/>
        </p:nvSpPr>
        <p:spPr>
          <a:xfrm>
            <a:off x="1233714" y="2897125"/>
            <a:ext cx="551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Its key feature is the promotion of flexibility</a:t>
            </a:r>
            <a:endParaRPr lang="fr-FR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26B9C917-F5BF-2B1B-FAD0-DABDA2EC993E}"/>
              </a:ext>
            </a:extLst>
          </p:cNvPr>
          <p:cNvGrpSpPr/>
          <p:nvPr/>
        </p:nvGrpSpPr>
        <p:grpSpPr>
          <a:xfrm>
            <a:off x="12587488" y="2179454"/>
            <a:ext cx="3185929" cy="2903407"/>
            <a:chOff x="12587488" y="2179454"/>
            <a:chExt cx="3185929" cy="2903407"/>
          </a:xfrm>
        </p:grpSpPr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6472334C-DC38-47CB-F716-4A86D0B6A193}"/>
                </a:ext>
              </a:extLst>
            </p:cNvPr>
            <p:cNvSpPr txBox="1"/>
            <p:nvPr/>
          </p:nvSpPr>
          <p:spPr>
            <a:xfrm>
              <a:off x="12867231" y="4744307"/>
              <a:ext cx="2626441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b="1" dirty="0">
                  <a:latin typeface="Verdana" panose="020B0604030504040204" pitchFamily="34" charset="0"/>
                  <a:ea typeface="Verdana" panose="020B0604030504040204" pitchFamily="34" charset="0"/>
                  <a:cs typeface="Prompt" panose="00000800000000000000" pitchFamily="2" charset="-34"/>
                </a:rPr>
                <a:t>State Pattern</a:t>
              </a:r>
            </a:p>
          </p:txBody>
        </p:sp>
        <p:pic>
          <p:nvPicPr>
            <p:cNvPr id="17" name="Picture 4">
              <a:extLst>
                <a:ext uri="{FF2B5EF4-FFF2-40B4-BE49-F238E27FC236}">
                  <a16:creationId xmlns:a16="http://schemas.microsoft.com/office/drawing/2014/main" id="{3C14BA65-0946-6C2E-F338-07070D751C5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55" r="6824"/>
            <a:stretch/>
          </p:blipFill>
          <p:spPr bwMode="auto">
            <a:xfrm>
              <a:off x="12587488" y="2179454"/>
              <a:ext cx="3185929" cy="2358672"/>
            </a:xfrm>
            <a:prstGeom prst="roundRect">
              <a:avLst/>
            </a:prstGeom>
            <a:noFill/>
            <a:ln>
              <a:solidFill>
                <a:srgbClr val="54548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048C70D0-7D75-4E53-02B0-D9333E1E546C}"/>
              </a:ext>
            </a:extLst>
          </p:cNvPr>
          <p:cNvGrpSpPr/>
          <p:nvPr/>
        </p:nvGrpSpPr>
        <p:grpSpPr>
          <a:xfrm>
            <a:off x="12587488" y="2179454"/>
            <a:ext cx="3185930" cy="2903407"/>
            <a:chOff x="16204688" y="2179454"/>
            <a:chExt cx="3185930" cy="2903407"/>
          </a:xfrm>
        </p:grpSpPr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ECAFB142-F8C9-56DA-C34A-AB26061BFC43}"/>
                </a:ext>
              </a:extLst>
            </p:cNvPr>
            <p:cNvSpPr txBox="1"/>
            <p:nvPr/>
          </p:nvSpPr>
          <p:spPr>
            <a:xfrm>
              <a:off x="16484433" y="4744307"/>
              <a:ext cx="2626441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b="1" dirty="0">
                  <a:latin typeface="Verdana" panose="020B0604030504040204" pitchFamily="34" charset="0"/>
                  <a:ea typeface="Verdana" panose="020B0604030504040204" pitchFamily="34" charset="0"/>
                  <a:cs typeface="Prompt" panose="00000800000000000000" pitchFamily="2" charset="-34"/>
                </a:rPr>
                <a:t>Differences</a:t>
              </a:r>
            </a:p>
          </p:txBody>
        </p:sp>
        <p:pic>
          <p:nvPicPr>
            <p:cNvPr id="20" name="Image 19">
              <a:extLst>
                <a:ext uri="{FF2B5EF4-FFF2-40B4-BE49-F238E27FC236}">
                  <a16:creationId xmlns:a16="http://schemas.microsoft.com/office/drawing/2014/main" id="{B4D95C14-3269-1DA9-637D-62CA0F50C4A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55" r="50993"/>
            <a:stretch/>
          </p:blipFill>
          <p:spPr bwMode="auto">
            <a:xfrm>
              <a:off x="16204688" y="2179454"/>
              <a:ext cx="1519071" cy="2358672"/>
            </a:xfrm>
            <a:custGeom>
              <a:avLst/>
              <a:gdLst>
                <a:gd name="connsiteX0" fmla="*/ 393120 w 1519071"/>
                <a:gd name="connsiteY0" fmla="*/ 0 h 2358672"/>
                <a:gd name="connsiteX1" fmla="*/ 1519071 w 1519071"/>
                <a:gd name="connsiteY1" fmla="*/ 0 h 2358672"/>
                <a:gd name="connsiteX2" fmla="*/ 1519071 w 1519071"/>
                <a:gd name="connsiteY2" fmla="*/ 2358672 h 2358672"/>
                <a:gd name="connsiteX3" fmla="*/ 393120 w 1519071"/>
                <a:gd name="connsiteY3" fmla="*/ 2358672 h 2358672"/>
                <a:gd name="connsiteX4" fmla="*/ 0 w 1519071"/>
                <a:gd name="connsiteY4" fmla="*/ 1965552 h 2358672"/>
                <a:gd name="connsiteX5" fmla="*/ 0 w 1519071"/>
                <a:gd name="connsiteY5" fmla="*/ 393120 h 2358672"/>
                <a:gd name="connsiteX6" fmla="*/ 393120 w 1519071"/>
                <a:gd name="connsiteY6" fmla="*/ 0 h 2358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19071" h="2358672">
                  <a:moveTo>
                    <a:pt x="393120" y="0"/>
                  </a:moveTo>
                  <a:lnTo>
                    <a:pt x="1519071" y="0"/>
                  </a:lnTo>
                  <a:lnTo>
                    <a:pt x="1519071" y="2358672"/>
                  </a:lnTo>
                  <a:lnTo>
                    <a:pt x="393120" y="2358672"/>
                  </a:lnTo>
                  <a:cubicBezTo>
                    <a:pt x="176006" y="2358672"/>
                    <a:pt x="0" y="2182666"/>
                    <a:pt x="0" y="1965552"/>
                  </a:cubicBezTo>
                  <a:lnTo>
                    <a:pt x="0" y="393120"/>
                  </a:lnTo>
                  <a:cubicBezTo>
                    <a:pt x="0" y="176006"/>
                    <a:pt x="176006" y="0"/>
                    <a:pt x="393120" y="0"/>
                  </a:cubicBezTo>
                  <a:close/>
                </a:path>
              </a:pathLst>
            </a:custGeom>
            <a:noFill/>
            <a:ln>
              <a:solidFill>
                <a:srgbClr val="54548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Image 20">
              <a:extLst>
                <a:ext uri="{FF2B5EF4-FFF2-40B4-BE49-F238E27FC236}">
                  <a16:creationId xmlns:a16="http://schemas.microsoft.com/office/drawing/2014/main" id="{FBECC395-4B99-76B6-7B51-5B4624DA087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831"/>
            <a:stretch/>
          </p:blipFill>
          <p:spPr bwMode="auto">
            <a:xfrm>
              <a:off x="17723759" y="2179454"/>
              <a:ext cx="1666859" cy="2358672"/>
            </a:xfrm>
            <a:custGeom>
              <a:avLst/>
              <a:gdLst>
                <a:gd name="connsiteX0" fmla="*/ 0 w 1666859"/>
                <a:gd name="connsiteY0" fmla="*/ 0 h 2358672"/>
                <a:gd name="connsiteX1" fmla="*/ 1349948 w 1666859"/>
                <a:gd name="connsiteY1" fmla="*/ 0 h 2358672"/>
                <a:gd name="connsiteX2" fmla="*/ 1666859 w 1666859"/>
                <a:gd name="connsiteY2" fmla="*/ 316911 h 2358672"/>
                <a:gd name="connsiteX3" fmla="*/ 1666859 w 1666859"/>
                <a:gd name="connsiteY3" fmla="*/ 2041761 h 2358672"/>
                <a:gd name="connsiteX4" fmla="*/ 1349948 w 1666859"/>
                <a:gd name="connsiteY4" fmla="*/ 2358672 h 2358672"/>
                <a:gd name="connsiteX5" fmla="*/ 0 w 1666859"/>
                <a:gd name="connsiteY5" fmla="*/ 2358672 h 2358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66859" h="2358672">
                  <a:moveTo>
                    <a:pt x="0" y="0"/>
                  </a:moveTo>
                  <a:lnTo>
                    <a:pt x="1349948" y="0"/>
                  </a:lnTo>
                  <a:cubicBezTo>
                    <a:pt x="1524973" y="0"/>
                    <a:pt x="1666859" y="141886"/>
                    <a:pt x="1666859" y="316911"/>
                  </a:cubicBezTo>
                  <a:lnTo>
                    <a:pt x="1666859" y="2041761"/>
                  </a:lnTo>
                  <a:cubicBezTo>
                    <a:pt x="1666859" y="2216786"/>
                    <a:pt x="1524973" y="2358672"/>
                    <a:pt x="1349948" y="2358672"/>
                  </a:cubicBezTo>
                  <a:lnTo>
                    <a:pt x="0" y="2358672"/>
                  </a:lnTo>
                  <a:close/>
                </a:path>
              </a:pathLst>
            </a:custGeom>
            <a:noFill/>
            <a:ln>
              <a:solidFill>
                <a:srgbClr val="54548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47504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595F2-96FE-1367-7D6A-66C35E493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24E4C163-225F-3123-47A2-760718B06D04}"/>
              </a:ext>
            </a:extLst>
          </p:cNvPr>
          <p:cNvSpPr txBox="1"/>
          <p:nvPr/>
        </p:nvSpPr>
        <p:spPr>
          <a:xfrm>
            <a:off x="3003425" y="136525"/>
            <a:ext cx="61851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3B3B5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Strategy Pattern</a:t>
            </a:r>
            <a:endParaRPr lang="fr-FR" sz="4400" b="1" dirty="0">
              <a:solidFill>
                <a:srgbClr val="3B3B5B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F31E226-A67E-65CA-1CA3-2E7814DCC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B3565-521F-4C94-BD9C-7BD2C4223877}" type="slidenum">
              <a:rPr lang="fr-FR" smtClean="0"/>
              <a:t>6</a:t>
            </a:fld>
            <a:endParaRPr lang="fr-FR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1A43A4DD-F6BD-0275-F8BA-242C0DBC7D2E}"/>
              </a:ext>
            </a:extLst>
          </p:cNvPr>
          <p:cNvSpPr/>
          <p:nvPr/>
        </p:nvSpPr>
        <p:spPr>
          <a:xfrm>
            <a:off x="5437235" y="6538912"/>
            <a:ext cx="1317523" cy="45719"/>
          </a:xfrm>
          <a:prstGeom prst="roundRect">
            <a:avLst>
              <a:gd name="adj" fmla="val 50000"/>
            </a:avLst>
          </a:prstGeom>
          <a:solidFill>
            <a:srgbClr val="5454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5B32FB75-BA19-C693-A259-FB967EC3152A}"/>
              </a:ext>
            </a:extLst>
          </p:cNvPr>
          <p:cNvCxnSpPr/>
          <p:nvPr/>
        </p:nvCxnSpPr>
        <p:spPr>
          <a:xfrm>
            <a:off x="350786" y="1364272"/>
            <a:ext cx="0" cy="4310103"/>
          </a:xfrm>
          <a:prstGeom prst="line">
            <a:avLst/>
          </a:prstGeom>
          <a:ln>
            <a:solidFill>
              <a:srgbClr val="9292B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Ellipse 10">
            <a:extLst>
              <a:ext uri="{FF2B5EF4-FFF2-40B4-BE49-F238E27FC236}">
                <a16:creationId xmlns:a16="http://schemas.microsoft.com/office/drawing/2014/main" id="{66FFFEA3-2236-E961-AAC9-767D3BA4A9AE}"/>
              </a:ext>
            </a:extLst>
          </p:cNvPr>
          <p:cNvSpPr/>
          <p:nvPr/>
        </p:nvSpPr>
        <p:spPr>
          <a:xfrm>
            <a:off x="147101" y="4675491"/>
            <a:ext cx="407370" cy="407370"/>
          </a:xfrm>
          <a:prstGeom prst="ellipse">
            <a:avLst/>
          </a:prstGeom>
          <a:solidFill>
            <a:srgbClr val="9292B8"/>
          </a:solidFill>
          <a:ln>
            <a:solidFill>
              <a:srgbClr val="54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9292B8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EA92EE4-60AC-289B-A742-5B12CD3496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02" r="7790"/>
          <a:stretch/>
        </p:blipFill>
        <p:spPr bwMode="auto">
          <a:xfrm>
            <a:off x="7576457" y="1542492"/>
            <a:ext cx="4465267" cy="4177331"/>
          </a:xfrm>
          <a:prstGeom prst="roundRect">
            <a:avLst>
              <a:gd name="adj" fmla="val 13436"/>
            </a:avLst>
          </a:pr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20155F8-2B0D-DAD4-1F7B-750016BC408A}"/>
              </a:ext>
            </a:extLst>
          </p:cNvPr>
          <p:cNvSpPr txBox="1"/>
          <p:nvPr/>
        </p:nvSpPr>
        <p:spPr>
          <a:xfrm>
            <a:off x="1233714" y="1542492"/>
            <a:ext cx="55172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Encapsulates interchangeable behaviors into separate classes, allowing the behavior of a class to be dynamically changed at runtime</a:t>
            </a:r>
            <a:endParaRPr lang="fr-FR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8FCC92D-17C2-9144-76F4-D01BB46C95A9}"/>
              </a:ext>
            </a:extLst>
          </p:cNvPr>
          <p:cNvSpPr txBox="1"/>
          <p:nvPr/>
        </p:nvSpPr>
        <p:spPr>
          <a:xfrm>
            <a:off x="1233714" y="2897125"/>
            <a:ext cx="551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Its key feature is the promotion of flexibility</a:t>
            </a:r>
            <a:endParaRPr lang="fr-FR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C98A13B-1A78-C477-950D-4165905AAD69}"/>
              </a:ext>
            </a:extLst>
          </p:cNvPr>
          <p:cNvSpPr txBox="1"/>
          <p:nvPr/>
        </p:nvSpPr>
        <p:spPr>
          <a:xfrm>
            <a:off x="1233714" y="3631157"/>
            <a:ext cx="551723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Ideal for situation where:</a:t>
            </a:r>
          </a:p>
          <a:p>
            <a:endParaRPr lang="en-US" sz="1000" b="0" i="0" u="none" strike="noStrike" dirty="0">
              <a:solidFill>
                <a:srgbClr val="000000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latin typeface="Verdana" panose="020B0604030504040204" pitchFamily="34" charset="0"/>
                <a:ea typeface="Verdana" panose="020B0604030504040204" pitchFamily="34" charset="0"/>
              </a:rPr>
              <a:t>Multiple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algorithms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FR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</a:rPr>
              <a:t>exists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The system needs to choose or switch dynamically</a:t>
            </a:r>
            <a:endParaRPr lang="fr-FR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9D6E79D6-A6C5-DE7B-F365-5F76055AF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858000"/>
            <a:ext cx="1222596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e 17">
            <a:extLst>
              <a:ext uri="{FF2B5EF4-FFF2-40B4-BE49-F238E27FC236}">
                <a16:creationId xmlns:a16="http://schemas.microsoft.com/office/drawing/2014/main" id="{123CE361-396E-9E65-8552-69C91C76E1CA}"/>
              </a:ext>
            </a:extLst>
          </p:cNvPr>
          <p:cNvGrpSpPr/>
          <p:nvPr/>
        </p:nvGrpSpPr>
        <p:grpSpPr>
          <a:xfrm>
            <a:off x="12587488" y="2179454"/>
            <a:ext cx="3185929" cy="2903407"/>
            <a:chOff x="12587488" y="2179454"/>
            <a:chExt cx="3185929" cy="2903407"/>
          </a:xfrm>
        </p:grpSpPr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A4B88002-D884-FBB0-71D9-6ED066B83E10}"/>
                </a:ext>
              </a:extLst>
            </p:cNvPr>
            <p:cNvSpPr txBox="1"/>
            <p:nvPr/>
          </p:nvSpPr>
          <p:spPr>
            <a:xfrm>
              <a:off x="12867231" y="4744307"/>
              <a:ext cx="2626441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b="1" dirty="0">
                  <a:latin typeface="Verdana" panose="020B0604030504040204" pitchFamily="34" charset="0"/>
                  <a:ea typeface="Verdana" panose="020B0604030504040204" pitchFamily="34" charset="0"/>
                  <a:cs typeface="Prompt" panose="00000800000000000000" pitchFamily="2" charset="-34"/>
                </a:rPr>
                <a:t>State Pattern</a:t>
              </a:r>
            </a:p>
          </p:txBody>
        </p:sp>
        <p:pic>
          <p:nvPicPr>
            <p:cNvPr id="20" name="Picture 4">
              <a:extLst>
                <a:ext uri="{FF2B5EF4-FFF2-40B4-BE49-F238E27FC236}">
                  <a16:creationId xmlns:a16="http://schemas.microsoft.com/office/drawing/2014/main" id="{8206616D-B89E-4200-3CDE-B6B1DBC2531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55" r="6824"/>
            <a:stretch/>
          </p:blipFill>
          <p:spPr bwMode="auto">
            <a:xfrm>
              <a:off x="12587488" y="2179454"/>
              <a:ext cx="3185929" cy="2358672"/>
            </a:xfrm>
            <a:prstGeom prst="roundRect">
              <a:avLst/>
            </a:prstGeom>
            <a:noFill/>
            <a:ln>
              <a:solidFill>
                <a:srgbClr val="54548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E74CD52D-FE3E-C081-C2A0-8E64519750CB}"/>
              </a:ext>
            </a:extLst>
          </p:cNvPr>
          <p:cNvGrpSpPr/>
          <p:nvPr/>
        </p:nvGrpSpPr>
        <p:grpSpPr>
          <a:xfrm>
            <a:off x="12587488" y="2179454"/>
            <a:ext cx="3185930" cy="2903407"/>
            <a:chOff x="16204688" y="2179454"/>
            <a:chExt cx="3185930" cy="2903407"/>
          </a:xfrm>
        </p:grpSpPr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B2B611F8-4AE5-2C47-1505-614216B7E1BB}"/>
                </a:ext>
              </a:extLst>
            </p:cNvPr>
            <p:cNvSpPr txBox="1"/>
            <p:nvPr/>
          </p:nvSpPr>
          <p:spPr>
            <a:xfrm>
              <a:off x="16484433" y="4744307"/>
              <a:ext cx="2626441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b="1" dirty="0">
                  <a:latin typeface="Verdana" panose="020B0604030504040204" pitchFamily="34" charset="0"/>
                  <a:ea typeface="Verdana" panose="020B0604030504040204" pitchFamily="34" charset="0"/>
                  <a:cs typeface="Prompt" panose="00000800000000000000" pitchFamily="2" charset="-34"/>
                </a:rPr>
                <a:t>Differences</a:t>
              </a:r>
            </a:p>
          </p:txBody>
        </p:sp>
        <p:pic>
          <p:nvPicPr>
            <p:cNvPr id="25" name="Image 24">
              <a:extLst>
                <a:ext uri="{FF2B5EF4-FFF2-40B4-BE49-F238E27FC236}">
                  <a16:creationId xmlns:a16="http://schemas.microsoft.com/office/drawing/2014/main" id="{AA97535F-8E22-204C-3A33-ECE65693BE4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55" r="50993"/>
            <a:stretch/>
          </p:blipFill>
          <p:spPr bwMode="auto">
            <a:xfrm>
              <a:off x="16204688" y="2179454"/>
              <a:ext cx="1519071" cy="2358672"/>
            </a:xfrm>
            <a:custGeom>
              <a:avLst/>
              <a:gdLst>
                <a:gd name="connsiteX0" fmla="*/ 393120 w 1519071"/>
                <a:gd name="connsiteY0" fmla="*/ 0 h 2358672"/>
                <a:gd name="connsiteX1" fmla="*/ 1519071 w 1519071"/>
                <a:gd name="connsiteY1" fmla="*/ 0 h 2358672"/>
                <a:gd name="connsiteX2" fmla="*/ 1519071 w 1519071"/>
                <a:gd name="connsiteY2" fmla="*/ 2358672 h 2358672"/>
                <a:gd name="connsiteX3" fmla="*/ 393120 w 1519071"/>
                <a:gd name="connsiteY3" fmla="*/ 2358672 h 2358672"/>
                <a:gd name="connsiteX4" fmla="*/ 0 w 1519071"/>
                <a:gd name="connsiteY4" fmla="*/ 1965552 h 2358672"/>
                <a:gd name="connsiteX5" fmla="*/ 0 w 1519071"/>
                <a:gd name="connsiteY5" fmla="*/ 393120 h 2358672"/>
                <a:gd name="connsiteX6" fmla="*/ 393120 w 1519071"/>
                <a:gd name="connsiteY6" fmla="*/ 0 h 2358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19071" h="2358672">
                  <a:moveTo>
                    <a:pt x="393120" y="0"/>
                  </a:moveTo>
                  <a:lnTo>
                    <a:pt x="1519071" y="0"/>
                  </a:lnTo>
                  <a:lnTo>
                    <a:pt x="1519071" y="2358672"/>
                  </a:lnTo>
                  <a:lnTo>
                    <a:pt x="393120" y="2358672"/>
                  </a:lnTo>
                  <a:cubicBezTo>
                    <a:pt x="176006" y="2358672"/>
                    <a:pt x="0" y="2182666"/>
                    <a:pt x="0" y="1965552"/>
                  </a:cubicBezTo>
                  <a:lnTo>
                    <a:pt x="0" y="393120"/>
                  </a:lnTo>
                  <a:cubicBezTo>
                    <a:pt x="0" y="176006"/>
                    <a:pt x="176006" y="0"/>
                    <a:pt x="393120" y="0"/>
                  </a:cubicBezTo>
                  <a:close/>
                </a:path>
              </a:pathLst>
            </a:custGeom>
            <a:noFill/>
            <a:ln>
              <a:solidFill>
                <a:srgbClr val="54548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Image 25">
              <a:extLst>
                <a:ext uri="{FF2B5EF4-FFF2-40B4-BE49-F238E27FC236}">
                  <a16:creationId xmlns:a16="http://schemas.microsoft.com/office/drawing/2014/main" id="{3036771C-2E6E-652E-0F90-146E2266BDF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831"/>
            <a:stretch/>
          </p:blipFill>
          <p:spPr bwMode="auto">
            <a:xfrm>
              <a:off x="17723759" y="2179454"/>
              <a:ext cx="1666859" cy="2358672"/>
            </a:xfrm>
            <a:custGeom>
              <a:avLst/>
              <a:gdLst>
                <a:gd name="connsiteX0" fmla="*/ 0 w 1666859"/>
                <a:gd name="connsiteY0" fmla="*/ 0 h 2358672"/>
                <a:gd name="connsiteX1" fmla="*/ 1349948 w 1666859"/>
                <a:gd name="connsiteY1" fmla="*/ 0 h 2358672"/>
                <a:gd name="connsiteX2" fmla="*/ 1666859 w 1666859"/>
                <a:gd name="connsiteY2" fmla="*/ 316911 h 2358672"/>
                <a:gd name="connsiteX3" fmla="*/ 1666859 w 1666859"/>
                <a:gd name="connsiteY3" fmla="*/ 2041761 h 2358672"/>
                <a:gd name="connsiteX4" fmla="*/ 1349948 w 1666859"/>
                <a:gd name="connsiteY4" fmla="*/ 2358672 h 2358672"/>
                <a:gd name="connsiteX5" fmla="*/ 0 w 1666859"/>
                <a:gd name="connsiteY5" fmla="*/ 2358672 h 2358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66859" h="2358672">
                  <a:moveTo>
                    <a:pt x="0" y="0"/>
                  </a:moveTo>
                  <a:lnTo>
                    <a:pt x="1349948" y="0"/>
                  </a:lnTo>
                  <a:cubicBezTo>
                    <a:pt x="1524973" y="0"/>
                    <a:pt x="1666859" y="141886"/>
                    <a:pt x="1666859" y="316911"/>
                  </a:cubicBezTo>
                  <a:lnTo>
                    <a:pt x="1666859" y="2041761"/>
                  </a:lnTo>
                  <a:cubicBezTo>
                    <a:pt x="1666859" y="2216786"/>
                    <a:pt x="1524973" y="2358672"/>
                    <a:pt x="1349948" y="2358672"/>
                  </a:cubicBezTo>
                  <a:lnTo>
                    <a:pt x="0" y="2358672"/>
                  </a:lnTo>
                  <a:close/>
                </a:path>
              </a:pathLst>
            </a:custGeom>
            <a:noFill/>
            <a:ln>
              <a:solidFill>
                <a:srgbClr val="54548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21179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B9BF0E54-297D-4DDC-BBE7-F66B726E3519}"/>
              </a:ext>
            </a:extLst>
          </p:cNvPr>
          <p:cNvCxnSpPr/>
          <p:nvPr/>
        </p:nvCxnSpPr>
        <p:spPr>
          <a:xfrm>
            <a:off x="350786" y="1364272"/>
            <a:ext cx="0" cy="4310103"/>
          </a:xfrm>
          <a:prstGeom prst="line">
            <a:avLst/>
          </a:prstGeom>
          <a:ln>
            <a:solidFill>
              <a:srgbClr val="9292B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Ellipse 16">
            <a:extLst>
              <a:ext uri="{FF2B5EF4-FFF2-40B4-BE49-F238E27FC236}">
                <a16:creationId xmlns:a16="http://schemas.microsoft.com/office/drawing/2014/main" id="{729C38C1-20D0-FCD3-3C9F-E90CF3516BBD}"/>
              </a:ext>
            </a:extLst>
          </p:cNvPr>
          <p:cNvSpPr/>
          <p:nvPr/>
        </p:nvSpPr>
        <p:spPr>
          <a:xfrm>
            <a:off x="147101" y="5082861"/>
            <a:ext cx="407370" cy="407370"/>
          </a:xfrm>
          <a:prstGeom prst="ellipse">
            <a:avLst/>
          </a:prstGeom>
          <a:solidFill>
            <a:srgbClr val="9292B8"/>
          </a:solidFill>
          <a:ln>
            <a:solidFill>
              <a:srgbClr val="54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9292B8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5C235D5-7B20-7A0C-1C37-1DBC56DED037}"/>
              </a:ext>
            </a:extLst>
          </p:cNvPr>
          <p:cNvSpPr txBox="1"/>
          <p:nvPr/>
        </p:nvSpPr>
        <p:spPr>
          <a:xfrm>
            <a:off x="3003425" y="136525"/>
            <a:ext cx="61851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3B3B5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Strategy Pattern</a:t>
            </a:r>
            <a:endParaRPr lang="fr-FR" sz="4400" b="1" dirty="0">
              <a:solidFill>
                <a:srgbClr val="3B3B5B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16F5EBB-17A0-3854-065D-019EFF64A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961" y="0"/>
            <a:ext cx="1222596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81713C2-6606-120F-6221-DAD55664F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B3565-521F-4C94-BD9C-7BD2C4223877}" type="slidenum">
              <a:rPr lang="fr-FR" smtClean="0"/>
              <a:t>7</a:t>
            </a:fld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75882D8-069D-5F4C-3506-AA6CE3457E56}"/>
              </a:ext>
            </a:extLst>
          </p:cNvPr>
          <p:cNvSpPr txBox="1"/>
          <p:nvPr/>
        </p:nvSpPr>
        <p:spPr>
          <a:xfrm>
            <a:off x="275772" y="319315"/>
            <a:ext cx="345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UML Diagram example</a:t>
            </a:r>
            <a:endParaRPr lang="fr-FR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835DBE53-EF65-533F-264B-F45F19774002}"/>
              </a:ext>
            </a:extLst>
          </p:cNvPr>
          <p:cNvGrpSpPr/>
          <p:nvPr/>
        </p:nvGrpSpPr>
        <p:grpSpPr>
          <a:xfrm>
            <a:off x="12587488" y="2179454"/>
            <a:ext cx="3185929" cy="2903407"/>
            <a:chOff x="12587488" y="2179454"/>
            <a:chExt cx="3185929" cy="2903407"/>
          </a:xfrm>
        </p:grpSpPr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F93593AB-3525-F3EE-2C7E-0EC1B40D7819}"/>
                </a:ext>
              </a:extLst>
            </p:cNvPr>
            <p:cNvSpPr txBox="1"/>
            <p:nvPr/>
          </p:nvSpPr>
          <p:spPr>
            <a:xfrm>
              <a:off x="12867231" y="4744307"/>
              <a:ext cx="2626441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b="1" dirty="0">
                  <a:latin typeface="Verdana" panose="020B0604030504040204" pitchFamily="34" charset="0"/>
                  <a:ea typeface="Verdana" panose="020B0604030504040204" pitchFamily="34" charset="0"/>
                  <a:cs typeface="Prompt" panose="00000800000000000000" pitchFamily="2" charset="-34"/>
                </a:rPr>
                <a:t>State Pattern</a:t>
              </a:r>
            </a:p>
          </p:txBody>
        </p:sp>
        <p:pic>
          <p:nvPicPr>
            <p:cNvPr id="8" name="Picture 4">
              <a:extLst>
                <a:ext uri="{FF2B5EF4-FFF2-40B4-BE49-F238E27FC236}">
                  <a16:creationId xmlns:a16="http://schemas.microsoft.com/office/drawing/2014/main" id="{ABD6BFD5-B452-1BB0-BCF1-7776046A087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55" r="6824"/>
            <a:stretch/>
          </p:blipFill>
          <p:spPr bwMode="auto">
            <a:xfrm>
              <a:off x="12587488" y="2179454"/>
              <a:ext cx="3185929" cy="2358672"/>
            </a:xfrm>
            <a:prstGeom prst="roundRect">
              <a:avLst/>
            </a:prstGeom>
            <a:noFill/>
            <a:ln>
              <a:solidFill>
                <a:srgbClr val="54548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76AFC3A0-A1CA-4DC7-6CE8-D935861152D9}"/>
              </a:ext>
            </a:extLst>
          </p:cNvPr>
          <p:cNvGrpSpPr/>
          <p:nvPr/>
        </p:nvGrpSpPr>
        <p:grpSpPr>
          <a:xfrm>
            <a:off x="12587488" y="2179454"/>
            <a:ext cx="3185930" cy="2903407"/>
            <a:chOff x="16204688" y="2179454"/>
            <a:chExt cx="3185930" cy="2903407"/>
          </a:xfrm>
        </p:grpSpPr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CDDAEE4D-B732-A046-01EA-55287BA8BEE6}"/>
                </a:ext>
              </a:extLst>
            </p:cNvPr>
            <p:cNvSpPr txBox="1"/>
            <p:nvPr/>
          </p:nvSpPr>
          <p:spPr>
            <a:xfrm>
              <a:off x="16484433" y="4744307"/>
              <a:ext cx="2626441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b="1" dirty="0">
                  <a:latin typeface="Verdana" panose="020B0604030504040204" pitchFamily="34" charset="0"/>
                  <a:ea typeface="Verdana" panose="020B0604030504040204" pitchFamily="34" charset="0"/>
                  <a:cs typeface="Prompt" panose="00000800000000000000" pitchFamily="2" charset="-34"/>
                </a:rPr>
                <a:t>Differences</a:t>
              </a:r>
            </a:p>
          </p:txBody>
        </p:sp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0E878A54-6561-4086-A247-F4CDE611438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55" r="50993"/>
            <a:stretch/>
          </p:blipFill>
          <p:spPr bwMode="auto">
            <a:xfrm>
              <a:off x="16204688" y="2179454"/>
              <a:ext cx="1519071" cy="2358672"/>
            </a:xfrm>
            <a:custGeom>
              <a:avLst/>
              <a:gdLst>
                <a:gd name="connsiteX0" fmla="*/ 393120 w 1519071"/>
                <a:gd name="connsiteY0" fmla="*/ 0 h 2358672"/>
                <a:gd name="connsiteX1" fmla="*/ 1519071 w 1519071"/>
                <a:gd name="connsiteY1" fmla="*/ 0 h 2358672"/>
                <a:gd name="connsiteX2" fmla="*/ 1519071 w 1519071"/>
                <a:gd name="connsiteY2" fmla="*/ 2358672 h 2358672"/>
                <a:gd name="connsiteX3" fmla="*/ 393120 w 1519071"/>
                <a:gd name="connsiteY3" fmla="*/ 2358672 h 2358672"/>
                <a:gd name="connsiteX4" fmla="*/ 0 w 1519071"/>
                <a:gd name="connsiteY4" fmla="*/ 1965552 h 2358672"/>
                <a:gd name="connsiteX5" fmla="*/ 0 w 1519071"/>
                <a:gd name="connsiteY5" fmla="*/ 393120 h 2358672"/>
                <a:gd name="connsiteX6" fmla="*/ 393120 w 1519071"/>
                <a:gd name="connsiteY6" fmla="*/ 0 h 2358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19071" h="2358672">
                  <a:moveTo>
                    <a:pt x="393120" y="0"/>
                  </a:moveTo>
                  <a:lnTo>
                    <a:pt x="1519071" y="0"/>
                  </a:lnTo>
                  <a:lnTo>
                    <a:pt x="1519071" y="2358672"/>
                  </a:lnTo>
                  <a:lnTo>
                    <a:pt x="393120" y="2358672"/>
                  </a:lnTo>
                  <a:cubicBezTo>
                    <a:pt x="176006" y="2358672"/>
                    <a:pt x="0" y="2182666"/>
                    <a:pt x="0" y="1965552"/>
                  </a:cubicBezTo>
                  <a:lnTo>
                    <a:pt x="0" y="393120"/>
                  </a:lnTo>
                  <a:cubicBezTo>
                    <a:pt x="0" y="176006"/>
                    <a:pt x="176006" y="0"/>
                    <a:pt x="393120" y="0"/>
                  </a:cubicBezTo>
                  <a:close/>
                </a:path>
              </a:pathLst>
            </a:custGeom>
            <a:noFill/>
            <a:ln>
              <a:solidFill>
                <a:srgbClr val="54548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0A4A0638-8C25-C51A-470F-03AFF7CD3FF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831"/>
            <a:stretch/>
          </p:blipFill>
          <p:spPr bwMode="auto">
            <a:xfrm>
              <a:off x="17723759" y="2179454"/>
              <a:ext cx="1666859" cy="2358672"/>
            </a:xfrm>
            <a:custGeom>
              <a:avLst/>
              <a:gdLst>
                <a:gd name="connsiteX0" fmla="*/ 0 w 1666859"/>
                <a:gd name="connsiteY0" fmla="*/ 0 h 2358672"/>
                <a:gd name="connsiteX1" fmla="*/ 1349948 w 1666859"/>
                <a:gd name="connsiteY1" fmla="*/ 0 h 2358672"/>
                <a:gd name="connsiteX2" fmla="*/ 1666859 w 1666859"/>
                <a:gd name="connsiteY2" fmla="*/ 316911 h 2358672"/>
                <a:gd name="connsiteX3" fmla="*/ 1666859 w 1666859"/>
                <a:gd name="connsiteY3" fmla="*/ 2041761 h 2358672"/>
                <a:gd name="connsiteX4" fmla="*/ 1349948 w 1666859"/>
                <a:gd name="connsiteY4" fmla="*/ 2358672 h 2358672"/>
                <a:gd name="connsiteX5" fmla="*/ 0 w 1666859"/>
                <a:gd name="connsiteY5" fmla="*/ 2358672 h 2358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66859" h="2358672">
                  <a:moveTo>
                    <a:pt x="0" y="0"/>
                  </a:moveTo>
                  <a:lnTo>
                    <a:pt x="1349948" y="0"/>
                  </a:lnTo>
                  <a:cubicBezTo>
                    <a:pt x="1524973" y="0"/>
                    <a:pt x="1666859" y="141886"/>
                    <a:pt x="1666859" y="316911"/>
                  </a:cubicBezTo>
                  <a:lnTo>
                    <a:pt x="1666859" y="2041761"/>
                  </a:lnTo>
                  <a:cubicBezTo>
                    <a:pt x="1666859" y="2216786"/>
                    <a:pt x="1524973" y="2358672"/>
                    <a:pt x="1349948" y="2358672"/>
                  </a:cubicBezTo>
                  <a:lnTo>
                    <a:pt x="0" y="2358672"/>
                  </a:lnTo>
                  <a:close/>
                </a:path>
              </a:pathLst>
            </a:custGeom>
            <a:noFill/>
            <a:ln>
              <a:solidFill>
                <a:srgbClr val="54548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9A7C2F1E-6D99-11CA-A055-74C702FD4362}"/>
              </a:ext>
            </a:extLst>
          </p:cNvPr>
          <p:cNvSpPr txBox="1"/>
          <p:nvPr/>
        </p:nvSpPr>
        <p:spPr>
          <a:xfrm>
            <a:off x="12867230" y="4744307"/>
            <a:ext cx="262644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Prompt" panose="00000800000000000000" pitchFamily="2" charset="-34"/>
              </a:rPr>
              <a:t>Strategy Pattern</a:t>
            </a:r>
          </a:p>
        </p:txBody>
      </p:sp>
    </p:spTree>
    <p:extLst>
      <p:ext uri="{BB962C8B-B14F-4D97-AF65-F5344CB8AC3E}">
        <p14:creationId xmlns:p14="http://schemas.microsoft.com/office/powerpoint/2010/main" val="4025161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026C6-D0DA-D707-EF49-D22742BDE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66BB2978-A011-20BA-7C23-CFF7D642756C}"/>
              </a:ext>
            </a:extLst>
          </p:cNvPr>
          <p:cNvCxnSpPr/>
          <p:nvPr/>
        </p:nvCxnSpPr>
        <p:spPr>
          <a:xfrm>
            <a:off x="350786" y="1364272"/>
            <a:ext cx="0" cy="4310103"/>
          </a:xfrm>
          <a:prstGeom prst="line">
            <a:avLst/>
          </a:prstGeom>
          <a:ln>
            <a:solidFill>
              <a:srgbClr val="9292B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Ellipse 16">
            <a:extLst>
              <a:ext uri="{FF2B5EF4-FFF2-40B4-BE49-F238E27FC236}">
                <a16:creationId xmlns:a16="http://schemas.microsoft.com/office/drawing/2014/main" id="{3E6F5B91-4833-B4A7-477D-97290A82DD06}"/>
              </a:ext>
            </a:extLst>
          </p:cNvPr>
          <p:cNvSpPr/>
          <p:nvPr/>
        </p:nvSpPr>
        <p:spPr>
          <a:xfrm>
            <a:off x="147101" y="5470690"/>
            <a:ext cx="407370" cy="407370"/>
          </a:xfrm>
          <a:prstGeom prst="ellipse">
            <a:avLst/>
          </a:prstGeom>
          <a:solidFill>
            <a:srgbClr val="9292B8"/>
          </a:solidFill>
          <a:ln>
            <a:solidFill>
              <a:srgbClr val="54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9292B8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AE67408-AFC3-8634-A694-5CCA5BE7BF26}"/>
              </a:ext>
            </a:extLst>
          </p:cNvPr>
          <p:cNvSpPr txBox="1"/>
          <p:nvPr/>
        </p:nvSpPr>
        <p:spPr>
          <a:xfrm>
            <a:off x="3003425" y="136525"/>
            <a:ext cx="61851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3B3B5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Strategy Pattern</a:t>
            </a:r>
            <a:endParaRPr lang="fr-FR" sz="4400" b="1" dirty="0">
              <a:solidFill>
                <a:srgbClr val="3B3B5B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5182E53-3AB0-383B-ED6D-BCD2E6254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961" y="-6858000"/>
            <a:ext cx="1222596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E796FC5-B6CD-3094-C4B6-2333E851B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B3565-521F-4C94-BD9C-7BD2C4223877}" type="slidenum">
              <a:rPr lang="fr-FR" smtClean="0"/>
              <a:t>8</a:t>
            </a:fld>
            <a:endParaRPr lang="fr-FR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4128833-78FC-8496-1080-5CCF07401C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27" t="13586" r="8962" b="13225"/>
          <a:stretch/>
        </p:blipFill>
        <p:spPr bwMode="auto">
          <a:xfrm>
            <a:off x="674009" y="2179454"/>
            <a:ext cx="5209045" cy="3054848"/>
          </a:xfrm>
          <a:prstGeom prst="roundRect">
            <a:avLst>
              <a:gd name="adj" fmla="val 88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>
            <a:extLst>
              <a:ext uri="{FF2B5EF4-FFF2-40B4-BE49-F238E27FC236}">
                <a16:creationId xmlns:a16="http://schemas.microsoft.com/office/drawing/2014/main" id="{17BBA378-9F2D-F643-DE47-7A58FCAB3F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0" t="20253" r="7030" b="18866"/>
          <a:stretch/>
        </p:blipFill>
        <p:spPr bwMode="auto">
          <a:xfrm>
            <a:off x="6079019" y="2179454"/>
            <a:ext cx="4972810" cy="1323975"/>
          </a:xfrm>
          <a:prstGeom prst="roundRect">
            <a:avLst>
              <a:gd name="adj" fmla="val 8753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E461AADD-391E-D300-2D07-18B7F14C65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64" t="22131" r="9778" b="22714"/>
          <a:stretch/>
        </p:blipFill>
        <p:spPr bwMode="auto">
          <a:xfrm>
            <a:off x="6079019" y="3706878"/>
            <a:ext cx="4385043" cy="1476375"/>
          </a:xfrm>
          <a:prstGeom prst="roundRect">
            <a:avLst>
              <a:gd name="adj" fmla="val 6344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A5927E82-2B57-E9C3-3FD9-F68923490144}"/>
              </a:ext>
            </a:extLst>
          </p:cNvPr>
          <p:cNvSpPr txBox="1"/>
          <p:nvPr/>
        </p:nvSpPr>
        <p:spPr>
          <a:xfrm>
            <a:off x="12936656" y="4744307"/>
            <a:ext cx="262644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Prompt" panose="00000800000000000000" pitchFamily="2" charset="-34"/>
              </a:rPr>
              <a:t>State Pattern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1C067BD-86E1-9269-B85A-5818BA8A190D}"/>
              </a:ext>
            </a:extLst>
          </p:cNvPr>
          <p:cNvSpPr txBox="1"/>
          <p:nvPr/>
        </p:nvSpPr>
        <p:spPr>
          <a:xfrm>
            <a:off x="12936657" y="4744307"/>
            <a:ext cx="262644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Prompt" panose="00000800000000000000" pitchFamily="2" charset="-34"/>
              </a:rPr>
              <a:t>Differences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ADB0153-CE78-2407-F203-821CEE8C0A55}"/>
              </a:ext>
            </a:extLst>
          </p:cNvPr>
          <p:cNvSpPr txBox="1"/>
          <p:nvPr/>
        </p:nvSpPr>
        <p:spPr>
          <a:xfrm>
            <a:off x="12936657" y="4744307"/>
            <a:ext cx="262644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Prompt" panose="00000800000000000000" pitchFamily="2" charset="-34"/>
              </a:rPr>
              <a:t>Strategy Pattern</a:t>
            </a:r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EECCEDB3-DB2E-D894-869A-87B08C8AD7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0" r="7790"/>
          <a:stretch/>
        </p:blipFill>
        <p:spPr bwMode="auto">
          <a:xfrm>
            <a:off x="12656914" y="2179454"/>
            <a:ext cx="3185928" cy="2358672"/>
          </a:xfrm>
          <a:prstGeom prst="roundRect">
            <a:avLst>
              <a:gd name="adj" fmla="val 13436"/>
            </a:avLst>
          </a:pr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>
            <a:extLst>
              <a:ext uri="{FF2B5EF4-FFF2-40B4-BE49-F238E27FC236}">
                <a16:creationId xmlns:a16="http://schemas.microsoft.com/office/drawing/2014/main" id="{EEAC5C68-843C-1CEE-920E-A4F971E0A1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5" r="6824"/>
          <a:stretch/>
        </p:blipFill>
        <p:spPr bwMode="auto">
          <a:xfrm>
            <a:off x="12656913" y="2179454"/>
            <a:ext cx="3185929" cy="2358672"/>
          </a:xfrm>
          <a:prstGeom prst="roundRect">
            <a:avLst/>
          </a:pr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1995E6CA-4628-25C2-2338-578C93CE07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5" r="50993"/>
          <a:stretch/>
        </p:blipFill>
        <p:spPr bwMode="auto">
          <a:xfrm>
            <a:off x="12656912" y="2179454"/>
            <a:ext cx="1519071" cy="2358672"/>
          </a:xfrm>
          <a:custGeom>
            <a:avLst/>
            <a:gdLst>
              <a:gd name="connsiteX0" fmla="*/ 393120 w 1519071"/>
              <a:gd name="connsiteY0" fmla="*/ 0 h 2358672"/>
              <a:gd name="connsiteX1" fmla="*/ 1519071 w 1519071"/>
              <a:gd name="connsiteY1" fmla="*/ 0 h 2358672"/>
              <a:gd name="connsiteX2" fmla="*/ 1519071 w 1519071"/>
              <a:gd name="connsiteY2" fmla="*/ 2358672 h 2358672"/>
              <a:gd name="connsiteX3" fmla="*/ 393120 w 1519071"/>
              <a:gd name="connsiteY3" fmla="*/ 2358672 h 2358672"/>
              <a:gd name="connsiteX4" fmla="*/ 0 w 1519071"/>
              <a:gd name="connsiteY4" fmla="*/ 1965552 h 2358672"/>
              <a:gd name="connsiteX5" fmla="*/ 0 w 1519071"/>
              <a:gd name="connsiteY5" fmla="*/ 393120 h 2358672"/>
              <a:gd name="connsiteX6" fmla="*/ 393120 w 1519071"/>
              <a:gd name="connsiteY6" fmla="*/ 0 h 2358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9071" h="2358672">
                <a:moveTo>
                  <a:pt x="393120" y="0"/>
                </a:moveTo>
                <a:lnTo>
                  <a:pt x="1519071" y="0"/>
                </a:lnTo>
                <a:lnTo>
                  <a:pt x="1519071" y="2358672"/>
                </a:lnTo>
                <a:lnTo>
                  <a:pt x="393120" y="2358672"/>
                </a:lnTo>
                <a:cubicBezTo>
                  <a:pt x="176006" y="2358672"/>
                  <a:pt x="0" y="2182666"/>
                  <a:pt x="0" y="1965552"/>
                </a:cubicBezTo>
                <a:lnTo>
                  <a:pt x="0" y="393120"/>
                </a:lnTo>
                <a:cubicBezTo>
                  <a:pt x="0" y="176006"/>
                  <a:pt x="176006" y="0"/>
                  <a:pt x="393120" y="0"/>
                </a:cubicBezTo>
                <a:close/>
              </a:path>
            </a:pathLst>
          </a:cu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6ADCD3ED-E2F4-AC09-E90D-9CA5C1736E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31"/>
          <a:stretch/>
        </p:blipFill>
        <p:spPr bwMode="auto">
          <a:xfrm>
            <a:off x="14175983" y="2179454"/>
            <a:ext cx="1666859" cy="2358672"/>
          </a:xfrm>
          <a:custGeom>
            <a:avLst/>
            <a:gdLst>
              <a:gd name="connsiteX0" fmla="*/ 0 w 1666859"/>
              <a:gd name="connsiteY0" fmla="*/ 0 h 2358672"/>
              <a:gd name="connsiteX1" fmla="*/ 1349948 w 1666859"/>
              <a:gd name="connsiteY1" fmla="*/ 0 h 2358672"/>
              <a:gd name="connsiteX2" fmla="*/ 1666859 w 1666859"/>
              <a:gd name="connsiteY2" fmla="*/ 316911 h 2358672"/>
              <a:gd name="connsiteX3" fmla="*/ 1666859 w 1666859"/>
              <a:gd name="connsiteY3" fmla="*/ 2041761 h 2358672"/>
              <a:gd name="connsiteX4" fmla="*/ 1349948 w 1666859"/>
              <a:gd name="connsiteY4" fmla="*/ 2358672 h 2358672"/>
              <a:gd name="connsiteX5" fmla="*/ 0 w 1666859"/>
              <a:gd name="connsiteY5" fmla="*/ 2358672 h 2358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6859" h="2358672">
                <a:moveTo>
                  <a:pt x="0" y="0"/>
                </a:moveTo>
                <a:lnTo>
                  <a:pt x="1349948" y="0"/>
                </a:lnTo>
                <a:cubicBezTo>
                  <a:pt x="1524973" y="0"/>
                  <a:pt x="1666859" y="141886"/>
                  <a:pt x="1666859" y="316911"/>
                </a:cubicBezTo>
                <a:lnTo>
                  <a:pt x="1666859" y="2041761"/>
                </a:lnTo>
                <a:cubicBezTo>
                  <a:pt x="1666859" y="2216786"/>
                  <a:pt x="1524973" y="2358672"/>
                  <a:pt x="1349948" y="2358672"/>
                </a:cubicBezTo>
                <a:lnTo>
                  <a:pt x="0" y="2358672"/>
                </a:lnTo>
                <a:close/>
              </a:path>
            </a:pathLst>
          </a:cu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419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757B2-35AD-1E86-96FD-12BB3ADC6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84FE58EF-40CA-BD62-3879-F5A65F1A348B}"/>
              </a:ext>
            </a:extLst>
          </p:cNvPr>
          <p:cNvSpPr txBox="1"/>
          <p:nvPr/>
        </p:nvSpPr>
        <p:spPr>
          <a:xfrm>
            <a:off x="921581" y="2752903"/>
            <a:ext cx="315017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base">
              <a:spcBef>
                <a:spcPts val="1200"/>
              </a:spcBef>
              <a:spcAft>
                <a:spcPts val="1200"/>
              </a:spcAft>
            </a:pPr>
            <a:r>
              <a:rPr lang="en-US" sz="1100" b="0" i="0" u="none" strike="noStrike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Allows an object to alter its behavior when its internal state changes, appearing to change its class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445C8AC-1C97-1E15-14C5-6B8E3961AE24}"/>
              </a:ext>
            </a:extLst>
          </p:cNvPr>
          <p:cNvSpPr txBox="1"/>
          <p:nvPr/>
        </p:nvSpPr>
        <p:spPr>
          <a:xfrm>
            <a:off x="3003428" y="136525"/>
            <a:ext cx="61851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3B3B5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Summary</a:t>
            </a:r>
            <a:endParaRPr lang="fr-FR" sz="4400" b="1" dirty="0">
              <a:solidFill>
                <a:srgbClr val="3B3B5B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87EC36A-C4A5-974D-DF3E-E64420373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B3565-521F-4C94-BD9C-7BD2C4223877}" type="slidenum">
              <a:rPr lang="fr-FR" smtClean="0"/>
              <a:t>9</a:t>
            </a:fld>
            <a:endParaRPr lang="fr-FR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A3971FBE-FF9E-D0D5-DB29-C83F09ADC2D8}"/>
              </a:ext>
            </a:extLst>
          </p:cNvPr>
          <p:cNvSpPr/>
          <p:nvPr/>
        </p:nvSpPr>
        <p:spPr>
          <a:xfrm>
            <a:off x="5437235" y="6538912"/>
            <a:ext cx="1317523" cy="45719"/>
          </a:xfrm>
          <a:prstGeom prst="roundRect">
            <a:avLst>
              <a:gd name="adj" fmla="val 50000"/>
            </a:avLst>
          </a:prstGeom>
          <a:solidFill>
            <a:srgbClr val="5454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83B88302-2B2B-A9F3-46E8-BC338903E9D5}"/>
              </a:ext>
            </a:extLst>
          </p:cNvPr>
          <p:cNvCxnSpPr/>
          <p:nvPr/>
        </p:nvCxnSpPr>
        <p:spPr>
          <a:xfrm>
            <a:off x="350786" y="1364272"/>
            <a:ext cx="0" cy="4310103"/>
          </a:xfrm>
          <a:prstGeom prst="line">
            <a:avLst/>
          </a:prstGeom>
          <a:ln>
            <a:solidFill>
              <a:srgbClr val="9292B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Ellipse 10">
            <a:extLst>
              <a:ext uri="{FF2B5EF4-FFF2-40B4-BE49-F238E27FC236}">
                <a16:creationId xmlns:a16="http://schemas.microsoft.com/office/drawing/2014/main" id="{8FB5529E-2311-59F9-9AA4-A189CAABAB0F}"/>
              </a:ext>
            </a:extLst>
          </p:cNvPr>
          <p:cNvSpPr/>
          <p:nvPr/>
        </p:nvSpPr>
        <p:spPr>
          <a:xfrm>
            <a:off x="150276" y="1257928"/>
            <a:ext cx="407370" cy="407370"/>
          </a:xfrm>
          <a:prstGeom prst="ellipse">
            <a:avLst/>
          </a:prstGeom>
          <a:solidFill>
            <a:srgbClr val="9292B8"/>
          </a:solidFill>
          <a:ln>
            <a:solidFill>
              <a:srgbClr val="54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9292B8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2892EA3-08E7-EA92-4096-28A870433011}"/>
              </a:ext>
            </a:extLst>
          </p:cNvPr>
          <p:cNvSpPr txBox="1"/>
          <p:nvPr/>
        </p:nvSpPr>
        <p:spPr>
          <a:xfrm>
            <a:off x="4782773" y="4744307"/>
            <a:ext cx="262644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Prompt" panose="00000800000000000000" pitchFamily="2" charset="-34"/>
              </a:rPr>
              <a:t>State Pattern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3BF577D-2BC0-9870-B57E-AE00BF48281A}"/>
              </a:ext>
            </a:extLst>
          </p:cNvPr>
          <p:cNvSpPr txBox="1"/>
          <p:nvPr/>
        </p:nvSpPr>
        <p:spPr>
          <a:xfrm>
            <a:off x="8399975" y="4744307"/>
            <a:ext cx="262644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Prompt" panose="00000800000000000000" pitchFamily="2" charset="-34"/>
              </a:rPr>
              <a:t>Differences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0DC1BD6-D38E-F841-63BE-9447574CF05D}"/>
              </a:ext>
            </a:extLst>
          </p:cNvPr>
          <p:cNvSpPr txBox="1"/>
          <p:nvPr/>
        </p:nvSpPr>
        <p:spPr>
          <a:xfrm>
            <a:off x="1165571" y="4744307"/>
            <a:ext cx="262644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Prompt" panose="00000800000000000000" pitchFamily="2" charset="-34"/>
              </a:rPr>
              <a:t>Strategy Pattern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411EFB3-EF7D-44B6-97A3-6E128B8E0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0" r="7790"/>
          <a:stretch/>
        </p:blipFill>
        <p:spPr bwMode="auto">
          <a:xfrm>
            <a:off x="885828" y="2179454"/>
            <a:ext cx="3185928" cy="2358672"/>
          </a:xfrm>
          <a:prstGeom prst="roundRect">
            <a:avLst>
              <a:gd name="adj" fmla="val 13436"/>
            </a:avLst>
          </a:pr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40E84800-D697-5C15-D76F-77095E98E5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5" r="6824"/>
          <a:stretch/>
        </p:blipFill>
        <p:spPr bwMode="auto">
          <a:xfrm>
            <a:off x="4503030" y="2179454"/>
            <a:ext cx="3185929" cy="2358672"/>
          </a:xfrm>
          <a:prstGeom prst="roundRect">
            <a:avLst/>
          </a:pr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7476FE36-60B6-77CF-7319-9ED4227E82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5" r="50993"/>
          <a:stretch/>
        </p:blipFill>
        <p:spPr bwMode="auto">
          <a:xfrm>
            <a:off x="8120230" y="2179454"/>
            <a:ext cx="1519071" cy="2358672"/>
          </a:xfrm>
          <a:custGeom>
            <a:avLst/>
            <a:gdLst>
              <a:gd name="connsiteX0" fmla="*/ 393120 w 1519071"/>
              <a:gd name="connsiteY0" fmla="*/ 0 h 2358672"/>
              <a:gd name="connsiteX1" fmla="*/ 1519071 w 1519071"/>
              <a:gd name="connsiteY1" fmla="*/ 0 h 2358672"/>
              <a:gd name="connsiteX2" fmla="*/ 1519071 w 1519071"/>
              <a:gd name="connsiteY2" fmla="*/ 2358672 h 2358672"/>
              <a:gd name="connsiteX3" fmla="*/ 393120 w 1519071"/>
              <a:gd name="connsiteY3" fmla="*/ 2358672 h 2358672"/>
              <a:gd name="connsiteX4" fmla="*/ 0 w 1519071"/>
              <a:gd name="connsiteY4" fmla="*/ 1965552 h 2358672"/>
              <a:gd name="connsiteX5" fmla="*/ 0 w 1519071"/>
              <a:gd name="connsiteY5" fmla="*/ 393120 h 2358672"/>
              <a:gd name="connsiteX6" fmla="*/ 393120 w 1519071"/>
              <a:gd name="connsiteY6" fmla="*/ 0 h 2358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9071" h="2358672">
                <a:moveTo>
                  <a:pt x="393120" y="0"/>
                </a:moveTo>
                <a:lnTo>
                  <a:pt x="1519071" y="0"/>
                </a:lnTo>
                <a:lnTo>
                  <a:pt x="1519071" y="2358672"/>
                </a:lnTo>
                <a:lnTo>
                  <a:pt x="393120" y="2358672"/>
                </a:lnTo>
                <a:cubicBezTo>
                  <a:pt x="176006" y="2358672"/>
                  <a:pt x="0" y="2182666"/>
                  <a:pt x="0" y="1965552"/>
                </a:cubicBezTo>
                <a:lnTo>
                  <a:pt x="0" y="393120"/>
                </a:lnTo>
                <a:cubicBezTo>
                  <a:pt x="0" y="176006"/>
                  <a:pt x="176006" y="0"/>
                  <a:pt x="393120" y="0"/>
                </a:cubicBezTo>
                <a:close/>
              </a:path>
            </a:pathLst>
          </a:cu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03B53116-A580-81BC-CE4C-FBE1CDF1B0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31"/>
          <a:stretch/>
        </p:blipFill>
        <p:spPr bwMode="auto">
          <a:xfrm>
            <a:off x="9639301" y="2179454"/>
            <a:ext cx="1666859" cy="2358672"/>
          </a:xfrm>
          <a:custGeom>
            <a:avLst/>
            <a:gdLst>
              <a:gd name="connsiteX0" fmla="*/ 0 w 1666859"/>
              <a:gd name="connsiteY0" fmla="*/ 0 h 2358672"/>
              <a:gd name="connsiteX1" fmla="*/ 1349948 w 1666859"/>
              <a:gd name="connsiteY1" fmla="*/ 0 h 2358672"/>
              <a:gd name="connsiteX2" fmla="*/ 1666859 w 1666859"/>
              <a:gd name="connsiteY2" fmla="*/ 316911 h 2358672"/>
              <a:gd name="connsiteX3" fmla="*/ 1666859 w 1666859"/>
              <a:gd name="connsiteY3" fmla="*/ 2041761 h 2358672"/>
              <a:gd name="connsiteX4" fmla="*/ 1349948 w 1666859"/>
              <a:gd name="connsiteY4" fmla="*/ 2358672 h 2358672"/>
              <a:gd name="connsiteX5" fmla="*/ 0 w 1666859"/>
              <a:gd name="connsiteY5" fmla="*/ 2358672 h 2358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6859" h="2358672">
                <a:moveTo>
                  <a:pt x="0" y="0"/>
                </a:moveTo>
                <a:lnTo>
                  <a:pt x="1349948" y="0"/>
                </a:lnTo>
                <a:cubicBezTo>
                  <a:pt x="1524973" y="0"/>
                  <a:pt x="1666859" y="141886"/>
                  <a:pt x="1666859" y="316911"/>
                </a:cubicBezTo>
                <a:lnTo>
                  <a:pt x="1666859" y="2041761"/>
                </a:lnTo>
                <a:cubicBezTo>
                  <a:pt x="1666859" y="2216786"/>
                  <a:pt x="1524973" y="2358672"/>
                  <a:pt x="1349948" y="2358672"/>
                </a:cubicBezTo>
                <a:lnTo>
                  <a:pt x="0" y="2358672"/>
                </a:lnTo>
                <a:close/>
              </a:path>
            </a:pathLst>
          </a:cu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35791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E1975-F33E-1DB6-7A52-FA50A78F4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2B828F64-2902-2AE3-E7A3-B97B95434EE4}"/>
              </a:ext>
            </a:extLst>
          </p:cNvPr>
          <p:cNvSpPr txBox="1"/>
          <p:nvPr/>
        </p:nvSpPr>
        <p:spPr>
          <a:xfrm>
            <a:off x="3003428" y="136525"/>
            <a:ext cx="61851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3B3B5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State Pattern</a:t>
            </a:r>
            <a:endParaRPr lang="fr-FR" sz="4400" b="1" dirty="0">
              <a:solidFill>
                <a:srgbClr val="3B3B5B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6D77766-C1FD-8291-FD5A-920E47AAE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B3565-521F-4C94-BD9C-7BD2C4223877}" type="slidenum">
              <a:rPr lang="fr-FR" smtClean="0"/>
              <a:t>10</a:t>
            </a:fld>
            <a:endParaRPr lang="fr-FR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FC583B32-A31E-D6F4-ABEA-F29CACC50B77}"/>
              </a:ext>
            </a:extLst>
          </p:cNvPr>
          <p:cNvSpPr/>
          <p:nvPr/>
        </p:nvSpPr>
        <p:spPr>
          <a:xfrm>
            <a:off x="5437235" y="6538912"/>
            <a:ext cx="1317523" cy="45719"/>
          </a:xfrm>
          <a:prstGeom prst="roundRect">
            <a:avLst>
              <a:gd name="adj" fmla="val 50000"/>
            </a:avLst>
          </a:prstGeom>
          <a:solidFill>
            <a:srgbClr val="5454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79338800-0A52-B5FB-3E70-2C1967BCBB75}"/>
              </a:ext>
            </a:extLst>
          </p:cNvPr>
          <p:cNvCxnSpPr/>
          <p:nvPr/>
        </p:nvCxnSpPr>
        <p:spPr>
          <a:xfrm>
            <a:off x="350786" y="1364272"/>
            <a:ext cx="0" cy="4310103"/>
          </a:xfrm>
          <a:prstGeom prst="line">
            <a:avLst/>
          </a:prstGeom>
          <a:ln>
            <a:solidFill>
              <a:srgbClr val="9292B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Ellipse 10">
            <a:extLst>
              <a:ext uri="{FF2B5EF4-FFF2-40B4-BE49-F238E27FC236}">
                <a16:creationId xmlns:a16="http://schemas.microsoft.com/office/drawing/2014/main" id="{68994DE9-E2A4-BF64-728A-B0B5A851600E}"/>
              </a:ext>
            </a:extLst>
          </p:cNvPr>
          <p:cNvSpPr/>
          <p:nvPr/>
        </p:nvSpPr>
        <p:spPr>
          <a:xfrm>
            <a:off x="150276" y="1975769"/>
            <a:ext cx="407370" cy="407370"/>
          </a:xfrm>
          <a:prstGeom prst="ellipse">
            <a:avLst/>
          </a:prstGeom>
          <a:solidFill>
            <a:srgbClr val="9292B8"/>
          </a:solidFill>
          <a:ln>
            <a:solidFill>
              <a:srgbClr val="54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9292B8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002FD92-2FF1-1474-41A5-E3B678DE5249}"/>
              </a:ext>
            </a:extLst>
          </p:cNvPr>
          <p:cNvSpPr txBox="1"/>
          <p:nvPr/>
        </p:nvSpPr>
        <p:spPr>
          <a:xfrm>
            <a:off x="13509004" y="4744307"/>
            <a:ext cx="262644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Prompt" panose="00000800000000000000" pitchFamily="2" charset="-34"/>
              </a:rPr>
              <a:t>Differences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307D60D-F903-0AE0-D86E-DC07409410C4}"/>
              </a:ext>
            </a:extLst>
          </p:cNvPr>
          <p:cNvSpPr txBox="1"/>
          <p:nvPr/>
        </p:nvSpPr>
        <p:spPr>
          <a:xfrm>
            <a:off x="-3801457" y="4744307"/>
            <a:ext cx="262644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Prompt" panose="00000800000000000000" pitchFamily="2" charset="-34"/>
              </a:rPr>
              <a:t>Strategy Pattern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E3D53AE-BF98-A954-8F41-59BC65F65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0" r="7790"/>
          <a:stretch/>
        </p:blipFill>
        <p:spPr bwMode="auto">
          <a:xfrm>
            <a:off x="-4081200" y="2179454"/>
            <a:ext cx="3185928" cy="2358672"/>
          </a:xfrm>
          <a:prstGeom prst="roundRect">
            <a:avLst>
              <a:gd name="adj" fmla="val 13436"/>
            </a:avLst>
          </a:pr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FF19983A-A637-149B-754B-1A19FC4A6E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5" r="6824"/>
          <a:stretch/>
        </p:blipFill>
        <p:spPr bwMode="auto">
          <a:xfrm>
            <a:off x="763670" y="1749801"/>
            <a:ext cx="4780293" cy="3539044"/>
          </a:xfrm>
          <a:prstGeom prst="roundRect">
            <a:avLst/>
          </a:pr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C6A13D08-27EC-D394-7ADC-AE61E95CCC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5" r="50993"/>
          <a:stretch/>
        </p:blipFill>
        <p:spPr bwMode="auto">
          <a:xfrm>
            <a:off x="13229259" y="2179454"/>
            <a:ext cx="1519071" cy="2358672"/>
          </a:xfrm>
          <a:custGeom>
            <a:avLst/>
            <a:gdLst>
              <a:gd name="connsiteX0" fmla="*/ 393120 w 1519071"/>
              <a:gd name="connsiteY0" fmla="*/ 0 h 2358672"/>
              <a:gd name="connsiteX1" fmla="*/ 1519071 w 1519071"/>
              <a:gd name="connsiteY1" fmla="*/ 0 h 2358672"/>
              <a:gd name="connsiteX2" fmla="*/ 1519071 w 1519071"/>
              <a:gd name="connsiteY2" fmla="*/ 2358672 h 2358672"/>
              <a:gd name="connsiteX3" fmla="*/ 393120 w 1519071"/>
              <a:gd name="connsiteY3" fmla="*/ 2358672 h 2358672"/>
              <a:gd name="connsiteX4" fmla="*/ 0 w 1519071"/>
              <a:gd name="connsiteY4" fmla="*/ 1965552 h 2358672"/>
              <a:gd name="connsiteX5" fmla="*/ 0 w 1519071"/>
              <a:gd name="connsiteY5" fmla="*/ 393120 h 2358672"/>
              <a:gd name="connsiteX6" fmla="*/ 393120 w 1519071"/>
              <a:gd name="connsiteY6" fmla="*/ 0 h 2358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9071" h="2358672">
                <a:moveTo>
                  <a:pt x="393120" y="0"/>
                </a:moveTo>
                <a:lnTo>
                  <a:pt x="1519071" y="0"/>
                </a:lnTo>
                <a:lnTo>
                  <a:pt x="1519071" y="2358672"/>
                </a:lnTo>
                <a:lnTo>
                  <a:pt x="393120" y="2358672"/>
                </a:lnTo>
                <a:cubicBezTo>
                  <a:pt x="176006" y="2358672"/>
                  <a:pt x="0" y="2182666"/>
                  <a:pt x="0" y="1965552"/>
                </a:cubicBezTo>
                <a:lnTo>
                  <a:pt x="0" y="393120"/>
                </a:lnTo>
                <a:cubicBezTo>
                  <a:pt x="0" y="176006"/>
                  <a:pt x="176006" y="0"/>
                  <a:pt x="393120" y="0"/>
                </a:cubicBezTo>
                <a:close/>
              </a:path>
            </a:pathLst>
          </a:cu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801DEF1E-BFE9-8382-ACCF-BE7925D2ED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31"/>
          <a:stretch/>
        </p:blipFill>
        <p:spPr bwMode="auto">
          <a:xfrm>
            <a:off x="14748330" y="2179454"/>
            <a:ext cx="1666859" cy="2358672"/>
          </a:xfrm>
          <a:custGeom>
            <a:avLst/>
            <a:gdLst>
              <a:gd name="connsiteX0" fmla="*/ 0 w 1666859"/>
              <a:gd name="connsiteY0" fmla="*/ 0 h 2358672"/>
              <a:gd name="connsiteX1" fmla="*/ 1349948 w 1666859"/>
              <a:gd name="connsiteY1" fmla="*/ 0 h 2358672"/>
              <a:gd name="connsiteX2" fmla="*/ 1666859 w 1666859"/>
              <a:gd name="connsiteY2" fmla="*/ 316911 h 2358672"/>
              <a:gd name="connsiteX3" fmla="*/ 1666859 w 1666859"/>
              <a:gd name="connsiteY3" fmla="*/ 2041761 h 2358672"/>
              <a:gd name="connsiteX4" fmla="*/ 1349948 w 1666859"/>
              <a:gd name="connsiteY4" fmla="*/ 2358672 h 2358672"/>
              <a:gd name="connsiteX5" fmla="*/ 0 w 1666859"/>
              <a:gd name="connsiteY5" fmla="*/ 2358672 h 2358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6859" h="2358672">
                <a:moveTo>
                  <a:pt x="0" y="0"/>
                </a:moveTo>
                <a:lnTo>
                  <a:pt x="1349948" y="0"/>
                </a:lnTo>
                <a:cubicBezTo>
                  <a:pt x="1524973" y="0"/>
                  <a:pt x="1666859" y="141886"/>
                  <a:pt x="1666859" y="316911"/>
                </a:cubicBezTo>
                <a:lnTo>
                  <a:pt x="1666859" y="2041761"/>
                </a:lnTo>
                <a:cubicBezTo>
                  <a:pt x="1666859" y="2216786"/>
                  <a:pt x="1524973" y="2358672"/>
                  <a:pt x="1349948" y="2358672"/>
                </a:cubicBezTo>
                <a:lnTo>
                  <a:pt x="0" y="2358672"/>
                </a:lnTo>
                <a:close/>
              </a:path>
            </a:pathLst>
          </a:cu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D4E4C033-8BA7-4A53-D40C-8046E5193714}"/>
              </a:ext>
            </a:extLst>
          </p:cNvPr>
          <p:cNvSpPr txBox="1"/>
          <p:nvPr/>
        </p:nvSpPr>
        <p:spPr>
          <a:xfrm>
            <a:off x="6310085" y="1760100"/>
            <a:ext cx="46010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base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Allows an object to alter its behavior when its internal state changes, appearing to change its class</a:t>
            </a:r>
          </a:p>
        </p:txBody>
      </p:sp>
    </p:spTree>
    <p:extLst>
      <p:ext uri="{BB962C8B-B14F-4D97-AF65-F5344CB8AC3E}">
        <p14:creationId xmlns:p14="http://schemas.microsoft.com/office/powerpoint/2010/main" val="13492266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BAC59-12F5-2FE4-7665-21F14D544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4D6A9AD-20CC-FE66-470D-D34C63E18611}"/>
              </a:ext>
            </a:extLst>
          </p:cNvPr>
          <p:cNvSpPr txBox="1"/>
          <p:nvPr/>
        </p:nvSpPr>
        <p:spPr>
          <a:xfrm>
            <a:off x="3003428" y="136525"/>
            <a:ext cx="61851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3B3B5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State Pattern</a:t>
            </a:r>
            <a:endParaRPr lang="fr-FR" sz="4400" b="1" dirty="0">
              <a:solidFill>
                <a:srgbClr val="3B3B5B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86AF2BD-23E4-33F4-5D97-795B5859E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B3565-521F-4C94-BD9C-7BD2C4223877}" type="slidenum">
              <a:rPr lang="fr-FR" smtClean="0"/>
              <a:t>11</a:t>
            </a:fld>
            <a:endParaRPr lang="fr-FR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1A1356A7-BFD4-9140-6B48-23C19C129A76}"/>
              </a:ext>
            </a:extLst>
          </p:cNvPr>
          <p:cNvSpPr/>
          <p:nvPr/>
        </p:nvSpPr>
        <p:spPr>
          <a:xfrm>
            <a:off x="5437235" y="6538912"/>
            <a:ext cx="1317523" cy="45719"/>
          </a:xfrm>
          <a:prstGeom prst="roundRect">
            <a:avLst>
              <a:gd name="adj" fmla="val 50000"/>
            </a:avLst>
          </a:prstGeom>
          <a:solidFill>
            <a:srgbClr val="5454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A82C6413-48F3-9B4B-7598-4AE0D93BE9C5}"/>
              </a:ext>
            </a:extLst>
          </p:cNvPr>
          <p:cNvCxnSpPr/>
          <p:nvPr/>
        </p:nvCxnSpPr>
        <p:spPr>
          <a:xfrm>
            <a:off x="350786" y="1364272"/>
            <a:ext cx="0" cy="4310103"/>
          </a:xfrm>
          <a:prstGeom prst="line">
            <a:avLst/>
          </a:prstGeom>
          <a:ln>
            <a:solidFill>
              <a:srgbClr val="9292B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Ellipse 10">
            <a:extLst>
              <a:ext uri="{FF2B5EF4-FFF2-40B4-BE49-F238E27FC236}">
                <a16:creationId xmlns:a16="http://schemas.microsoft.com/office/drawing/2014/main" id="{3FDCAFA7-4AF5-2834-84B1-E651616EEA68}"/>
              </a:ext>
            </a:extLst>
          </p:cNvPr>
          <p:cNvSpPr/>
          <p:nvPr/>
        </p:nvSpPr>
        <p:spPr>
          <a:xfrm>
            <a:off x="150276" y="3155105"/>
            <a:ext cx="407370" cy="407370"/>
          </a:xfrm>
          <a:prstGeom prst="ellipse">
            <a:avLst/>
          </a:prstGeom>
          <a:solidFill>
            <a:srgbClr val="9292B8"/>
          </a:solidFill>
          <a:ln>
            <a:solidFill>
              <a:srgbClr val="54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9292B8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2207E1A-630F-A7A7-80D4-E3C3320DC264}"/>
              </a:ext>
            </a:extLst>
          </p:cNvPr>
          <p:cNvSpPr txBox="1"/>
          <p:nvPr/>
        </p:nvSpPr>
        <p:spPr>
          <a:xfrm>
            <a:off x="13509004" y="4744307"/>
            <a:ext cx="262644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Prompt" panose="00000800000000000000" pitchFamily="2" charset="-34"/>
              </a:rPr>
              <a:t>Differences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C96F6FA-DD24-ECD0-0778-3B3DF3491E66}"/>
              </a:ext>
            </a:extLst>
          </p:cNvPr>
          <p:cNvSpPr txBox="1"/>
          <p:nvPr/>
        </p:nvSpPr>
        <p:spPr>
          <a:xfrm>
            <a:off x="-3801457" y="4744307"/>
            <a:ext cx="262644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Prompt" panose="00000800000000000000" pitchFamily="2" charset="-34"/>
              </a:rPr>
              <a:t>Strategy Pattern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5656E84-D5E9-B4CB-A99A-11ABC3A4C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0" r="7790"/>
          <a:stretch/>
        </p:blipFill>
        <p:spPr bwMode="auto">
          <a:xfrm>
            <a:off x="-4081200" y="2179454"/>
            <a:ext cx="3185928" cy="2358672"/>
          </a:xfrm>
          <a:prstGeom prst="roundRect">
            <a:avLst>
              <a:gd name="adj" fmla="val 13436"/>
            </a:avLst>
          </a:pr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9417DE62-E1BF-3894-FD3B-FB6335A895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5" r="6824"/>
          <a:stretch/>
        </p:blipFill>
        <p:spPr bwMode="auto">
          <a:xfrm>
            <a:off x="763670" y="1749801"/>
            <a:ext cx="4780293" cy="3539044"/>
          </a:xfrm>
          <a:prstGeom prst="roundRect">
            <a:avLst/>
          </a:pr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A251E112-4A64-A90B-2CE5-F3F5E9D286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5" r="50993"/>
          <a:stretch/>
        </p:blipFill>
        <p:spPr bwMode="auto">
          <a:xfrm>
            <a:off x="13229259" y="2179454"/>
            <a:ext cx="1519071" cy="2358672"/>
          </a:xfrm>
          <a:custGeom>
            <a:avLst/>
            <a:gdLst>
              <a:gd name="connsiteX0" fmla="*/ 393120 w 1519071"/>
              <a:gd name="connsiteY0" fmla="*/ 0 h 2358672"/>
              <a:gd name="connsiteX1" fmla="*/ 1519071 w 1519071"/>
              <a:gd name="connsiteY1" fmla="*/ 0 h 2358672"/>
              <a:gd name="connsiteX2" fmla="*/ 1519071 w 1519071"/>
              <a:gd name="connsiteY2" fmla="*/ 2358672 h 2358672"/>
              <a:gd name="connsiteX3" fmla="*/ 393120 w 1519071"/>
              <a:gd name="connsiteY3" fmla="*/ 2358672 h 2358672"/>
              <a:gd name="connsiteX4" fmla="*/ 0 w 1519071"/>
              <a:gd name="connsiteY4" fmla="*/ 1965552 h 2358672"/>
              <a:gd name="connsiteX5" fmla="*/ 0 w 1519071"/>
              <a:gd name="connsiteY5" fmla="*/ 393120 h 2358672"/>
              <a:gd name="connsiteX6" fmla="*/ 393120 w 1519071"/>
              <a:gd name="connsiteY6" fmla="*/ 0 h 2358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9071" h="2358672">
                <a:moveTo>
                  <a:pt x="393120" y="0"/>
                </a:moveTo>
                <a:lnTo>
                  <a:pt x="1519071" y="0"/>
                </a:lnTo>
                <a:lnTo>
                  <a:pt x="1519071" y="2358672"/>
                </a:lnTo>
                <a:lnTo>
                  <a:pt x="393120" y="2358672"/>
                </a:lnTo>
                <a:cubicBezTo>
                  <a:pt x="176006" y="2358672"/>
                  <a:pt x="0" y="2182666"/>
                  <a:pt x="0" y="1965552"/>
                </a:cubicBezTo>
                <a:lnTo>
                  <a:pt x="0" y="393120"/>
                </a:lnTo>
                <a:cubicBezTo>
                  <a:pt x="0" y="176006"/>
                  <a:pt x="176006" y="0"/>
                  <a:pt x="393120" y="0"/>
                </a:cubicBezTo>
                <a:close/>
              </a:path>
            </a:pathLst>
          </a:cu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B2B5A6EB-6674-425C-59AF-442AC38AC3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31"/>
          <a:stretch/>
        </p:blipFill>
        <p:spPr bwMode="auto">
          <a:xfrm>
            <a:off x="14748330" y="2179454"/>
            <a:ext cx="1666859" cy="2358672"/>
          </a:xfrm>
          <a:custGeom>
            <a:avLst/>
            <a:gdLst>
              <a:gd name="connsiteX0" fmla="*/ 0 w 1666859"/>
              <a:gd name="connsiteY0" fmla="*/ 0 h 2358672"/>
              <a:gd name="connsiteX1" fmla="*/ 1349948 w 1666859"/>
              <a:gd name="connsiteY1" fmla="*/ 0 h 2358672"/>
              <a:gd name="connsiteX2" fmla="*/ 1666859 w 1666859"/>
              <a:gd name="connsiteY2" fmla="*/ 316911 h 2358672"/>
              <a:gd name="connsiteX3" fmla="*/ 1666859 w 1666859"/>
              <a:gd name="connsiteY3" fmla="*/ 2041761 h 2358672"/>
              <a:gd name="connsiteX4" fmla="*/ 1349948 w 1666859"/>
              <a:gd name="connsiteY4" fmla="*/ 2358672 h 2358672"/>
              <a:gd name="connsiteX5" fmla="*/ 0 w 1666859"/>
              <a:gd name="connsiteY5" fmla="*/ 2358672 h 2358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6859" h="2358672">
                <a:moveTo>
                  <a:pt x="0" y="0"/>
                </a:moveTo>
                <a:lnTo>
                  <a:pt x="1349948" y="0"/>
                </a:lnTo>
                <a:cubicBezTo>
                  <a:pt x="1524973" y="0"/>
                  <a:pt x="1666859" y="141886"/>
                  <a:pt x="1666859" y="316911"/>
                </a:cubicBezTo>
                <a:lnTo>
                  <a:pt x="1666859" y="2041761"/>
                </a:lnTo>
                <a:cubicBezTo>
                  <a:pt x="1666859" y="2216786"/>
                  <a:pt x="1524973" y="2358672"/>
                  <a:pt x="1349948" y="2358672"/>
                </a:cubicBezTo>
                <a:lnTo>
                  <a:pt x="0" y="2358672"/>
                </a:lnTo>
                <a:close/>
              </a:path>
            </a:pathLst>
          </a:cu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38A99299-4BA1-6A7E-0A6E-2EAA8AA3A7EE}"/>
              </a:ext>
            </a:extLst>
          </p:cNvPr>
          <p:cNvSpPr txBox="1"/>
          <p:nvPr/>
        </p:nvSpPr>
        <p:spPr>
          <a:xfrm>
            <a:off x="6310085" y="1760100"/>
            <a:ext cx="46010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base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Allows an object to alter its behavior when its internal state changes, appearing to change its class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05C4A31-CCBB-E36C-110A-9F9508DAF3A9}"/>
              </a:ext>
            </a:extLst>
          </p:cNvPr>
          <p:cNvSpPr txBox="1"/>
          <p:nvPr/>
        </p:nvSpPr>
        <p:spPr>
          <a:xfrm>
            <a:off x="6310084" y="2820703"/>
            <a:ext cx="460102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base">
              <a:spcBef>
                <a:spcPts val="1200"/>
              </a:spcBef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Key features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  <a:p>
            <a:pPr marL="742950" lvl="1" indent="-285750" fontAlgn="base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Encapsulates state-specific behavior</a:t>
            </a:r>
          </a:p>
          <a:p>
            <a:pPr marL="731520" lvl="1" indent="-285750" fontAlgn="base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Code easier to extend and maintain</a:t>
            </a:r>
          </a:p>
        </p:txBody>
      </p:sp>
    </p:spTree>
    <p:extLst>
      <p:ext uri="{BB962C8B-B14F-4D97-AF65-F5344CB8AC3E}">
        <p14:creationId xmlns:p14="http://schemas.microsoft.com/office/powerpoint/2010/main" val="25378647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A9307-D52C-5217-C130-670937942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3ADEB450-C3E6-76A8-4624-AF39E4D977D8}"/>
              </a:ext>
            </a:extLst>
          </p:cNvPr>
          <p:cNvSpPr txBox="1"/>
          <p:nvPr/>
        </p:nvSpPr>
        <p:spPr>
          <a:xfrm>
            <a:off x="3003428" y="136525"/>
            <a:ext cx="61851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3B3B5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State Pattern</a:t>
            </a:r>
            <a:endParaRPr lang="fr-FR" sz="4400" b="1" dirty="0">
              <a:solidFill>
                <a:srgbClr val="3B3B5B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72CBFA8-19E5-5BF4-C7F6-847E643EA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B3565-521F-4C94-BD9C-7BD2C4223877}" type="slidenum">
              <a:rPr lang="fr-FR" smtClean="0"/>
              <a:t>12</a:t>
            </a:fld>
            <a:endParaRPr lang="fr-FR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0B2A30A7-EAD3-61BB-E6AB-22A0288A52C0}"/>
              </a:ext>
            </a:extLst>
          </p:cNvPr>
          <p:cNvSpPr/>
          <p:nvPr/>
        </p:nvSpPr>
        <p:spPr>
          <a:xfrm>
            <a:off x="5437235" y="6538912"/>
            <a:ext cx="1317523" cy="45719"/>
          </a:xfrm>
          <a:prstGeom prst="roundRect">
            <a:avLst>
              <a:gd name="adj" fmla="val 50000"/>
            </a:avLst>
          </a:prstGeom>
          <a:solidFill>
            <a:srgbClr val="5454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8DD3C80C-ABDB-06B2-189F-2AF93DE35326}"/>
              </a:ext>
            </a:extLst>
          </p:cNvPr>
          <p:cNvCxnSpPr/>
          <p:nvPr/>
        </p:nvCxnSpPr>
        <p:spPr>
          <a:xfrm>
            <a:off x="350786" y="1364272"/>
            <a:ext cx="0" cy="4310103"/>
          </a:xfrm>
          <a:prstGeom prst="line">
            <a:avLst/>
          </a:prstGeom>
          <a:ln>
            <a:solidFill>
              <a:srgbClr val="9292B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Ellipse 10">
            <a:extLst>
              <a:ext uri="{FF2B5EF4-FFF2-40B4-BE49-F238E27FC236}">
                <a16:creationId xmlns:a16="http://schemas.microsoft.com/office/drawing/2014/main" id="{1CD92654-CEBB-AE63-84C3-A41728BFBF6E}"/>
              </a:ext>
            </a:extLst>
          </p:cNvPr>
          <p:cNvSpPr/>
          <p:nvPr/>
        </p:nvSpPr>
        <p:spPr>
          <a:xfrm>
            <a:off x="150276" y="3935699"/>
            <a:ext cx="407370" cy="407370"/>
          </a:xfrm>
          <a:prstGeom prst="ellipse">
            <a:avLst/>
          </a:prstGeom>
          <a:solidFill>
            <a:srgbClr val="9292B8"/>
          </a:solidFill>
          <a:ln>
            <a:solidFill>
              <a:srgbClr val="54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9292B8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A4ED5B8-4499-87DB-6B95-91D8DBFF581A}"/>
              </a:ext>
            </a:extLst>
          </p:cNvPr>
          <p:cNvSpPr txBox="1"/>
          <p:nvPr/>
        </p:nvSpPr>
        <p:spPr>
          <a:xfrm>
            <a:off x="13509004" y="4744307"/>
            <a:ext cx="262644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Prompt" panose="00000800000000000000" pitchFamily="2" charset="-34"/>
              </a:rPr>
              <a:t>Differences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298D8B1-984D-AB7D-4D42-2706341A7B3C}"/>
              </a:ext>
            </a:extLst>
          </p:cNvPr>
          <p:cNvSpPr txBox="1"/>
          <p:nvPr/>
        </p:nvSpPr>
        <p:spPr>
          <a:xfrm>
            <a:off x="-3801457" y="4744307"/>
            <a:ext cx="262644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Prompt" panose="00000800000000000000" pitchFamily="2" charset="-34"/>
              </a:rPr>
              <a:t>Strategy Pattern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2E330DA-57AF-BF05-35D2-F996FB14A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0" r="7790"/>
          <a:stretch/>
        </p:blipFill>
        <p:spPr bwMode="auto">
          <a:xfrm>
            <a:off x="-4081200" y="2179454"/>
            <a:ext cx="3185928" cy="2358672"/>
          </a:xfrm>
          <a:prstGeom prst="roundRect">
            <a:avLst>
              <a:gd name="adj" fmla="val 13436"/>
            </a:avLst>
          </a:pr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4B1399C1-10A6-D6DC-CD9F-F1D3539A08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5" r="6824"/>
          <a:stretch/>
        </p:blipFill>
        <p:spPr bwMode="auto">
          <a:xfrm>
            <a:off x="763670" y="1749801"/>
            <a:ext cx="4780293" cy="3539044"/>
          </a:xfrm>
          <a:prstGeom prst="roundRect">
            <a:avLst/>
          </a:pr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184E561A-0D4A-83DD-971A-6BBCFFB7C6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5" r="50993"/>
          <a:stretch/>
        </p:blipFill>
        <p:spPr bwMode="auto">
          <a:xfrm>
            <a:off x="13229259" y="2179454"/>
            <a:ext cx="1519071" cy="2358672"/>
          </a:xfrm>
          <a:custGeom>
            <a:avLst/>
            <a:gdLst>
              <a:gd name="connsiteX0" fmla="*/ 393120 w 1519071"/>
              <a:gd name="connsiteY0" fmla="*/ 0 h 2358672"/>
              <a:gd name="connsiteX1" fmla="*/ 1519071 w 1519071"/>
              <a:gd name="connsiteY1" fmla="*/ 0 h 2358672"/>
              <a:gd name="connsiteX2" fmla="*/ 1519071 w 1519071"/>
              <a:gd name="connsiteY2" fmla="*/ 2358672 h 2358672"/>
              <a:gd name="connsiteX3" fmla="*/ 393120 w 1519071"/>
              <a:gd name="connsiteY3" fmla="*/ 2358672 h 2358672"/>
              <a:gd name="connsiteX4" fmla="*/ 0 w 1519071"/>
              <a:gd name="connsiteY4" fmla="*/ 1965552 h 2358672"/>
              <a:gd name="connsiteX5" fmla="*/ 0 w 1519071"/>
              <a:gd name="connsiteY5" fmla="*/ 393120 h 2358672"/>
              <a:gd name="connsiteX6" fmla="*/ 393120 w 1519071"/>
              <a:gd name="connsiteY6" fmla="*/ 0 h 2358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9071" h="2358672">
                <a:moveTo>
                  <a:pt x="393120" y="0"/>
                </a:moveTo>
                <a:lnTo>
                  <a:pt x="1519071" y="0"/>
                </a:lnTo>
                <a:lnTo>
                  <a:pt x="1519071" y="2358672"/>
                </a:lnTo>
                <a:lnTo>
                  <a:pt x="393120" y="2358672"/>
                </a:lnTo>
                <a:cubicBezTo>
                  <a:pt x="176006" y="2358672"/>
                  <a:pt x="0" y="2182666"/>
                  <a:pt x="0" y="1965552"/>
                </a:cubicBezTo>
                <a:lnTo>
                  <a:pt x="0" y="393120"/>
                </a:lnTo>
                <a:cubicBezTo>
                  <a:pt x="0" y="176006"/>
                  <a:pt x="176006" y="0"/>
                  <a:pt x="393120" y="0"/>
                </a:cubicBezTo>
                <a:close/>
              </a:path>
            </a:pathLst>
          </a:cu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DF695DB9-2A10-DD79-5FF3-FD1516C5C5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31"/>
          <a:stretch/>
        </p:blipFill>
        <p:spPr bwMode="auto">
          <a:xfrm>
            <a:off x="14748330" y="2179454"/>
            <a:ext cx="1666859" cy="2358672"/>
          </a:xfrm>
          <a:custGeom>
            <a:avLst/>
            <a:gdLst>
              <a:gd name="connsiteX0" fmla="*/ 0 w 1666859"/>
              <a:gd name="connsiteY0" fmla="*/ 0 h 2358672"/>
              <a:gd name="connsiteX1" fmla="*/ 1349948 w 1666859"/>
              <a:gd name="connsiteY1" fmla="*/ 0 h 2358672"/>
              <a:gd name="connsiteX2" fmla="*/ 1666859 w 1666859"/>
              <a:gd name="connsiteY2" fmla="*/ 316911 h 2358672"/>
              <a:gd name="connsiteX3" fmla="*/ 1666859 w 1666859"/>
              <a:gd name="connsiteY3" fmla="*/ 2041761 h 2358672"/>
              <a:gd name="connsiteX4" fmla="*/ 1349948 w 1666859"/>
              <a:gd name="connsiteY4" fmla="*/ 2358672 h 2358672"/>
              <a:gd name="connsiteX5" fmla="*/ 0 w 1666859"/>
              <a:gd name="connsiteY5" fmla="*/ 2358672 h 2358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6859" h="2358672">
                <a:moveTo>
                  <a:pt x="0" y="0"/>
                </a:moveTo>
                <a:lnTo>
                  <a:pt x="1349948" y="0"/>
                </a:lnTo>
                <a:cubicBezTo>
                  <a:pt x="1524973" y="0"/>
                  <a:pt x="1666859" y="141886"/>
                  <a:pt x="1666859" y="316911"/>
                </a:cubicBezTo>
                <a:lnTo>
                  <a:pt x="1666859" y="2041761"/>
                </a:lnTo>
                <a:cubicBezTo>
                  <a:pt x="1666859" y="2216786"/>
                  <a:pt x="1524973" y="2358672"/>
                  <a:pt x="1349948" y="2358672"/>
                </a:cubicBezTo>
                <a:lnTo>
                  <a:pt x="0" y="2358672"/>
                </a:lnTo>
                <a:close/>
              </a:path>
            </a:pathLst>
          </a:cu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97154ECB-D4D8-35E6-1DD4-BF30AEE6212A}"/>
              </a:ext>
            </a:extLst>
          </p:cNvPr>
          <p:cNvSpPr txBox="1"/>
          <p:nvPr/>
        </p:nvSpPr>
        <p:spPr>
          <a:xfrm>
            <a:off x="6310085" y="1760100"/>
            <a:ext cx="46010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base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Allows an object to alter its behavior when its internal state changes, appearing to change its class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514158C-B4CA-B543-C3C5-2F66643250AA}"/>
              </a:ext>
            </a:extLst>
          </p:cNvPr>
          <p:cNvSpPr txBox="1"/>
          <p:nvPr/>
        </p:nvSpPr>
        <p:spPr>
          <a:xfrm>
            <a:off x="6310084" y="2820703"/>
            <a:ext cx="460102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base">
              <a:spcBef>
                <a:spcPts val="1200"/>
              </a:spcBef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Key features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  <a:p>
            <a:pPr marL="742950" lvl="1" indent="-285750" fontAlgn="base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Encapsulates state-specific behavior</a:t>
            </a:r>
          </a:p>
          <a:p>
            <a:pPr marL="731520" lvl="1" indent="-285750" fontAlgn="base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Code easier to extend and maintain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D3A9D51-46AA-47A6-DD59-0722D3D637A3}"/>
              </a:ext>
            </a:extLst>
          </p:cNvPr>
          <p:cNvSpPr txBox="1"/>
          <p:nvPr/>
        </p:nvSpPr>
        <p:spPr>
          <a:xfrm>
            <a:off x="6310083" y="4719393"/>
            <a:ext cx="46010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base">
              <a:spcBef>
                <a:spcPts val="1200"/>
              </a:spcBef>
              <a:spcAft>
                <a:spcPts val="1200"/>
              </a:spcAft>
            </a:pPr>
            <a:r>
              <a:rPr lang="en-US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Useful when an object's behavior depends on its current state (Idle, Active, Paused)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3538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035FE-0AB1-3D2C-ED31-C91CA9E2F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B38CBF8A-E653-E3C1-04FB-9D81495998BD}"/>
              </a:ext>
            </a:extLst>
          </p:cNvPr>
          <p:cNvSpPr txBox="1"/>
          <p:nvPr/>
        </p:nvSpPr>
        <p:spPr>
          <a:xfrm>
            <a:off x="3003428" y="136525"/>
            <a:ext cx="61851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3B3B5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State Pattern</a:t>
            </a:r>
            <a:endParaRPr lang="fr-FR" sz="4400" b="1" dirty="0">
              <a:solidFill>
                <a:srgbClr val="3B3B5B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1D290DD-3CF0-224E-2A91-9B965B568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B3565-521F-4C94-BD9C-7BD2C4223877}" type="slidenum">
              <a:rPr lang="fr-FR" smtClean="0"/>
              <a:t>13</a:t>
            </a:fld>
            <a:endParaRPr lang="fr-FR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F2239DC1-C5E9-7408-E7E2-6550EE254081}"/>
              </a:ext>
            </a:extLst>
          </p:cNvPr>
          <p:cNvSpPr/>
          <p:nvPr/>
        </p:nvSpPr>
        <p:spPr>
          <a:xfrm>
            <a:off x="5437235" y="6538912"/>
            <a:ext cx="1317523" cy="45719"/>
          </a:xfrm>
          <a:prstGeom prst="roundRect">
            <a:avLst>
              <a:gd name="adj" fmla="val 50000"/>
            </a:avLst>
          </a:prstGeom>
          <a:solidFill>
            <a:srgbClr val="5454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C4EA8300-7917-C897-3628-A34C4EF55CAD}"/>
              </a:ext>
            </a:extLst>
          </p:cNvPr>
          <p:cNvCxnSpPr/>
          <p:nvPr/>
        </p:nvCxnSpPr>
        <p:spPr>
          <a:xfrm>
            <a:off x="350786" y="1364272"/>
            <a:ext cx="0" cy="4310103"/>
          </a:xfrm>
          <a:prstGeom prst="line">
            <a:avLst/>
          </a:prstGeom>
          <a:ln>
            <a:solidFill>
              <a:srgbClr val="9292B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Ellipse 10">
            <a:extLst>
              <a:ext uri="{FF2B5EF4-FFF2-40B4-BE49-F238E27FC236}">
                <a16:creationId xmlns:a16="http://schemas.microsoft.com/office/drawing/2014/main" id="{E8410DD1-41A1-B551-7ABD-99320349C1DC}"/>
              </a:ext>
            </a:extLst>
          </p:cNvPr>
          <p:cNvSpPr/>
          <p:nvPr/>
        </p:nvSpPr>
        <p:spPr>
          <a:xfrm>
            <a:off x="150276" y="4506214"/>
            <a:ext cx="407370" cy="407370"/>
          </a:xfrm>
          <a:prstGeom prst="ellipse">
            <a:avLst/>
          </a:prstGeom>
          <a:solidFill>
            <a:srgbClr val="9292B8"/>
          </a:solidFill>
          <a:ln>
            <a:solidFill>
              <a:srgbClr val="54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9292B8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A970A69-95E6-E2BD-E444-9596A5241111}"/>
              </a:ext>
            </a:extLst>
          </p:cNvPr>
          <p:cNvSpPr txBox="1"/>
          <p:nvPr/>
        </p:nvSpPr>
        <p:spPr>
          <a:xfrm>
            <a:off x="13509004" y="4744307"/>
            <a:ext cx="262644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Prompt" panose="00000800000000000000" pitchFamily="2" charset="-34"/>
              </a:rPr>
              <a:t>Differences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6FC00F5-DD95-A879-086B-A8F8B5682489}"/>
              </a:ext>
            </a:extLst>
          </p:cNvPr>
          <p:cNvSpPr txBox="1"/>
          <p:nvPr/>
        </p:nvSpPr>
        <p:spPr>
          <a:xfrm>
            <a:off x="-3801457" y="4744307"/>
            <a:ext cx="262644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Prompt" panose="00000800000000000000" pitchFamily="2" charset="-34"/>
              </a:rPr>
              <a:t>Strategy Pattern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12B0229-CBFE-D81E-5E9B-2BA0A5D91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0" r="7790"/>
          <a:stretch/>
        </p:blipFill>
        <p:spPr bwMode="auto">
          <a:xfrm>
            <a:off x="-4081200" y="2179454"/>
            <a:ext cx="3185928" cy="2358672"/>
          </a:xfrm>
          <a:prstGeom prst="roundRect">
            <a:avLst>
              <a:gd name="adj" fmla="val 13436"/>
            </a:avLst>
          </a:pr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3C7EC8F0-C5D4-2800-C206-1A0CF0A8EE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5" r="50993"/>
          <a:stretch/>
        </p:blipFill>
        <p:spPr bwMode="auto">
          <a:xfrm>
            <a:off x="13229259" y="2179454"/>
            <a:ext cx="1519071" cy="2358672"/>
          </a:xfrm>
          <a:custGeom>
            <a:avLst/>
            <a:gdLst>
              <a:gd name="connsiteX0" fmla="*/ 393120 w 1519071"/>
              <a:gd name="connsiteY0" fmla="*/ 0 h 2358672"/>
              <a:gd name="connsiteX1" fmla="*/ 1519071 w 1519071"/>
              <a:gd name="connsiteY1" fmla="*/ 0 h 2358672"/>
              <a:gd name="connsiteX2" fmla="*/ 1519071 w 1519071"/>
              <a:gd name="connsiteY2" fmla="*/ 2358672 h 2358672"/>
              <a:gd name="connsiteX3" fmla="*/ 393120 w 1519071"/>
              <a:gd name="connsiteY3" fmla="*/ 2358672 h 2358672"/>
              <a:gd name="connsiteX4" fmla="*/ 0 w 1519071"/>
              <a:gd name="connsiteY4" fmla="*/ 1965552 h 2358672"/>
              <a:gd name="connsiteX5" fmla="*/ 0 w 1519071"/>
              <a:gd name="connsiteY5" fmla="*/ 393120 h 2358672"/>
              <a:gd name="connsiteX6" fmla="*/ 393120 w 1519071"/>
              <a:gd name="connsiteY6" fmla="*/ 0 h 2358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9071" h="2358672">
                <a:moveTo>
                  <a:pt x="393120" y="0"/>
                </a:moveTo>
                <a:lnTo>
                  <a:pt x="1519071" y="0"/>
                </a:lnTo>
                <a:lnTo>
                  <a:pt x="1519071" y="2358672"/>
                </a:lnTo>
                <a:lnTo>
                  <a:pt x="393120" y="2358672"/>
                </a:lnTo>
                <a:cubicBezTo>
                  <a:pt x="176006" y="2358672"/>
                  <a:pt x="0" y="2182666"/>
                  <a:pt x="0" y="1965552"/>
                </a:cubicBezTo>
                <a:lnTo>
                  <a:pt x="0" y="393120"/>
                </a:lnTo>
                <a:cubicBezTo>
                  <a:pt x="0" y="176006"/>
                  <a:pt x="176006" y="0"/>
                  <a:pt x="393120" y="0"/>
                </a:cubicBezTo>
                <a:close/>
              </a:path>
            </a:pathLst>
          </a:cu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53F165D3-4961-357F-B878-A959B226C4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31"/>
          <a:stretch/>
        </p:blipFill>
        <p:spPr bwMode="auto">
          <a:xfrm>
            <a:off x="14748330" y="2179454"/>
            <a:ext cx="1666859" cy="2358672"/>
          </a:xfrm>
          <a:custGeom>
            <a:avLst/>
            <a:gdLst>
              <a:gd name="connsiteX0" fmla="*/ 0 w 1666859"/>
              <a:gd name="connsiteY0" fmla="*/ 0 h 2358672"/>
              <a:gd name="connsiteX1" fmla="*/ 1349948 w 1666859"/>
              <a:gd name="connsiteY1" fmla="*/ 0 h 2358672"/>
              <a:gd name="connsiteX2" fmla="*/ 1666859 w 1666859"/>
              <a:gd name="connsiteY2" fmla="*/ 316911 h 2358672"/>
              <a:gd name="connsiteX3" fmla="*/ 1666859 w 1666859"/>
              <a:gd name="connsiteY3" fmla="*/ 2041761 h 2358672"/>
              <a:gd name="connsiteX4" fmla="*/ 1349948 w 1666859"/>
              <a:gd name="connsiteY4" fmla="*/ 2358672 h 2358672"/>
              <a:gd name="connsiteX5" fmla="*/ 0 w 1666859"/>
              <a:gd name="connsiteY5" fmla="*/ 2358672 h 2358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6859" h="2358672">
                <a:moveTo>
                  <a:pt x="0" y="0"/>
                </a:moveTo>
                <a:lnTo>
                  <a:pt x="1349948" y="0"/>
                </a:lnTo>
                <a:cubicBezTo>
                  <a:pt x="1524973" y="0"/>
                  <a:pt x="1666859" y="141886"/>
                  <a:pt x="1666859" y="316911"/>
                </a:cubicBezTo>
                <a:lnTo>
                  <a:pt x="1666859" y="2041761"/>
                </a:lnTo>
                <a:cubicBezTo>
                  <a:pt x="1666859" y="2216786"/>
                  <a:pt x="1524973" y="2358672"/>
                  <a:pt x="1349948" y="2358672"/>
                </a:cubicBezTo>
                <a:lnTo>
                  <a:pt x="0" y="2358672"/>
                </a:lnTo>
                <a:close/>
              </a:path>
            </a:pathLst>
          </a:cu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FA3AD035-B03F-6CCC-BB23-7F802B12F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748616" y="1188605"/>
            <a:ext cx="8440749" cy="4601973"/>
          </a:xfrm>
          <a:prstGeom prst="roundRect">
            <a:avLst>
              <a:gd name="adj" fmla="val 6732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E3EEAFB7-342C-03F0-D7F1-9C1D4009596A}"/>
              </a:ext>
            </a:extLst>
          </p:cNvPr>
          <p:cNvSpPr txBox="1"/>
          <p:nvPr/>
        </p:nvSpPr>
        <p:spPr>
          <a:xfrm>
            <a:off x="1748616" y="5826191"/>
            <a:ext cx="27967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rgbClr val="3B3B5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UML Diagram example</a:t>
            </a:r>
            <a:endParaRPr lang="fr-FR" sz="1600" i="1" dirty="0">
              <a:solidFill>
                <a:srgbClr val="3B3B5B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3214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D6F15-9CC6-F00C-294F-C7E0FFEA7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B49C5243-AACA-2C83-64A9-92DE6CF74CE9}"/>
              </a:ext>
            </a:extLst>
          </p:cNvPr>
          <p:cNvSpPr txBox="1"/>
          <p:nvPr/>
        </p:nvSpPr>
        <p:spPr>
          <a:xfrm>
            <a:off x="3003428" y="136525"/>
            <a:ext cx="61851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3B3B5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State Pattern</a:t>
            </a:r>
            <a:endParaRPr lang="fr-FR" sz="4400" b="1" dirty="0">
              <a:solidFill>
                <a:srgbClr val="3B3B5B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2BCE1D3-4AB8-E415-A276-F0B49810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B3565-521F-4C94-BD9C-7BD2C4223877}" type="slidenum">
              <a:rPr lang="fr-FR" smtClean="0"/>
              <a:t>14</a:t>
            </a:fld>
            <a:endParaRPr lang="fr-FR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FBE5F65E-197D-C694-8941-813BB1B86FF2}"/>
              </a:ext>
            </a:extLst>
          </p:cNvPr>
          <p:cNvSpPr/>
          <p:nvPr/>
        </p:nvSpPr>
        <p:spPr>
          <a:xfrm>
            <a:off x="5437235" y="6538912"/>
            <a:ext cx="1317523" cy="45719"/>
          </a:xfrm>
          <a:prstGeom prst="roundRect">
            <a:avLst>
              <a:gd name="adj" fmla="val 50000"/>
            </a:avLst>
          </a:prstGeom>
          <a:solidFill>
            <a:srgbClr val="5454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535AD5EE-1C71-FC01-9F86-5BC00F3EB450}"/>
              </a:ext>
            </a:extLst>
          </p:cNvPr>
          <p:cNvCxnSpPr/>
          <p:nvPr/>
        </p:nvCxnSpPr>
        <p:spPr>
          <a:xfrm>
            <a:off x="350786" y="1364272"/>
            <a:ext cx="0" cy="4310103"/>
          </a:xfrm>
          <a:prstGeom prst="line">
            <a:avLst/>
          </a:prstGeom>
          <a:ln>
            <a:solidFill>
              <a:srgbClr val="9292B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A4FA3977-9E61-8A0D-D302-71EFD92BB49A}"/>
              </a:ext>
            </a:extLst>
          </p:cNvPr>
          <p:cNvSpPr txBox="1"/>
          <p:nvPr/>
        </p:nvSpPr>
        <p:spPr>
          <a:xfrm>
            <a:off x="13509004" y="4744307"/>
            <a:ext cx="262644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Prompt" panose="00000800000000000000" pitchFamily="2" charset="-34"/>
              </a:rPr>
              <a:t>Differences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D8FD4A7-3697-F4A3-396F-D00B1E6ED4EC}"/>
              </a:ext>
            </a:extLst>
          </p:cNvPr>
          <p:cNvSpPr txBox="1"/>
          <p:nvPr/>
        </p:nvSpPr>
        <p:spPr>
          <a:xfrm>
            <a:off x="-3801457" y="4744307"/>
            <a:ext cx="262644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Prompt" panose="00000800000000000000" pitchFamily="2" charset="-34"/>
              </a:rPr>
              <a:t>Strategy Pattern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6118D64-9542-61DD-3B78-FB8D73379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0" r="7790"/>
          <a:stretch/>
        </p:blipFill>
        <p:spPr bwMode="auto">
          <a:xfrm>
            <a:off x="-4081200" y="2179454"/>
            <a:ext cx="3185928" cy="2358672"/>
          </a:xfrm>
          <a:prstGeom prst="roundRect">
            <a:avLst>
              <a:gd name="adj" fmla="val 13436"/>
            </a:avLst>
          </a:pr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1957608D-79BE-168A-1B43-9E36B7EB17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5" r="50993"/>
          <a:stretch/>
        </p:blipFill>
        <p:spPr bwMode="auto">
          <a:xfrm>
            <a:off x="13229259" y="2179454"/>
            <a:ext cx="1519071" cy="2358672"/>
          </a:xfrm>
          <a:custGeom>
            <a:avLst/>
            <a:gdLst>
              <a:gd name="connsiteX0" fmla="*/ 393120 w 1519071"/>
              <a:gd name="connsiteY0" fmla="*/ 0 h 2358672"/>
              <a:gd name="connsiteX1" fmla="*/ 1519071 w 1519071"/>
              <a:gd name="connsiteY1" fmla="*/ 0 h 2358672"/>
              <a:gd name="connsiteX2" fmla="*/ 1519071 w 1519071"/>
              <a:gd name="connsiteY2" fmla="*/ 2358672 h 2358672"/>
              <a:gd name="connsiteX3" fmla="*/ 393120 w 1519071"/>
              <a:gd name="connsiteY3" fmla="*/ 2358672 h 2358672"/>
              <a:gd name="connsiteX4" fmla="*/ 0 w 1519071"/>
              <a:gd name="connsiteY4" fmla="*/ 1965552 h 2358672"/>
              <a:gd name="connsiteX5" fmla="*/ 0 w 1519071"/>
              <a:gd name="connsiteY5" fmla="*/ 393120 h 2358672"/>
              <a:gd name="connsiteX6" fmla="*/ 393120 w 1519071"/>
              <a:gd name="connsiteY6" fmla="*/ 0 h 2358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9071" h="2358672">
                <a:moveTo>
                  <a:pt x="393120" y="0"/>
                </a:moveTo>
                <a:lnTo>
                  <a:pt x="1519071" y="0"/>
                </a:lnTo>
                <a:lnTo>
                  <a:pt x="1519071" y="2358672"/>
                </a:lnTo>
                <a:lnTo>
                  <a:pt x="393120" y="2358672"/>
                </a:lnTo>
                <a:cubicBezTo>
                  <a:pt x="176006" y="2358672"/>
                  <a:pt x="0" y="2182666"/>
                  <a:pt x="0" y="1965552"/>
                </a:cubicBezTo>
                <a:lnTo>
                  <a:pt x="0" y="393120"/>
                </a:lnTo>
                <a:cubicBezTo>
                  <a:pt x="0" y="176006"/>
                  <a:pt x="176006" y="0"/>
                  <a:pt x="393120" y="0"/>
                </a:cubicBezTo>
                <a:close/>
              </a:path>
            </a:pathLst>
          </a:cu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5A44B001-8407-E541-642D-56B562D7FA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31"/>
          <a:stretch/>
        </p:blipFill>
        <p:spPr bwMode="auto">
          <a:xfrm>
            <a:off x="14748330" y="2179454"/>
            <a:ext cx="1666859" cy="2358672"/>
          </a:xfrm>
          <a:custGeom>
            <a:avLst/>
            <a:gdLst>
              <a:gd name="connsiteX0" fmla="*/ 0 w 1666859"/>
              <a:gd name="connsiteY0" fmla="*/ 0 h 2358672"/>
              <a:gd name="connsiteX1" fmla="*/ 1349948 w 1666859"/>
              <a:gd name="connsiteY1" fmla="*/ 0 h 2358672"/>
              <a:gd name="connsiteX2" fmla="*/ 1666859 w 1666859"/>
              <a:gd name="connsiteY2" fmla="*/ 316911 h 2358672"/>
              <a:gd name="connsiteX3" fmla="*/ 1666859 w 1666859"/>
              <a:gd name="connsiteY3" fmla="*/ 2041761 h 2358672"/>
              <a:gd name="connsiteX4" fmla="*/ 1349948 w 1666859"/>
              <a:gd name="connsiteY4" fmla="*/ 2358672 h 2358672"/>
              <a:gd name="connsiteX5" fmla="*/ 0 w 1666859"/>
              <a:gd name="connsiteY5" fmla="*/ 2358672 h 2358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6859" h="2358672">
                <a:moveTo>
                  <a:pt x="0" y="0"/>
                </a:moveTo>
                <a:lnTo>
                  <a:pt x="1349948" y="0"/>
                </a:lnTo>
                <a:cubicBezTo>
                  <a:pt x="1524973" y="0"/>
                  <a:pt x="1666859" y="141886"/>
                  <a:pt x="1666859" y="316911"/>
                </a:cubicBezTo>
                <a:lnTo>
                  <a:pt x="1666859" y="2041761"/>
                </a:lnTo>
                <a:cubicBezTo>
                  <a:pt x="1666859" y="2216786"/>
                  <a:pt x="1524973" y="2358672"/>
                  <a:pt x="1349948" y="2358672"/>
                </a:cubicBezTo>
                <a:lnTo>
                  <a:pt x="0" y="2358672"/>
                </a:lnTo>
                <a:close/>
              </a:path>
            </a:pathLst>
          </a:cu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llipse 3">
            <a:extLst>
              <a:ext uri="{FF2B5EF4-FFF2-40B4-BE49-F238E27FC236}">
                <a16:creationId xmlns:a16="http://schemas.microsoft.com/office/drawing/2014/main" id="{97842980-0E42-DAB2-3531-E3920CF71F8E}"/>
              </a:ext>
            </a:extLst>
          </p:cNvPr>
          <p:cNvSpPr/>
          <p:nvPr/>
        </p:nvSpPr>
        <p:spPr>
          <a:xfrm>
            <a:off x="147101" y="5470690"/>
            <a:ext cx="407370" cy="407370"/>
          </a:xfrm>
          <a:prstGeom prst="ellipse">
            <a:avLst/>
          </a:prstGeom>
          <a:solidFill>
            <a:srgbClr val="9292B8"/>
          </a:solidFill>
          <a:ln>
            <a:solidFill>
              <a:srgbClr val="54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9292B8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6BEDDBC-1295-8979-3481-9964F48BBFAD}"/>
              </a:ext>
            </a:extLst>
          </p:cNvPr>
          <p:cNvSpPr txBox="1"/>
          <p:nvPr/>
        </p:nvSpPr>
        <p:spPr>
          <a:xfrm>
            <a:off x="-3703367" y="4744307"/>
            <a:ext cx="262644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Prompt" panose="00000800000000000000" pitchFamily="2" charset="-34"/>
              </a:rPr>
              <a:t>State Pattern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E24584D1-4359-3BA8-5F8E-0D7E5A7CAE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5" r="6824"/>
          <a:stretch/>
        </p:blipFill>
        <p:spPr bwMode="auto">
          <a:xfrm>
            <a:off x="-3983110" y="2179454"/>
            <a:ext cx="3185929" cy="2358672"/>
          </a:xfrm>
          <a:prstGeom prst="roundRect">
            <a:avLst/>
          </a:pr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9AB46CC5-4776-BF58-618D-FA7AEC064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-7336126"/>
            <a:ext cx="12192000" cy="6647189"/>
          </a:xfrm>
          <a:prstGeom prst="roundRect">
            <a:avLst>
              <a:gd name="adj" fmla="val 6732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 11" descr="Une image contenant texte, capture d’écran, Police, carte de visite&#10;&#10;Description générée automatiquement">
            <a:extLst>
              <a:ext uri="{FF2B5EF4-FFF2-40B4-BE49-F238E27FC236}">
                <a16:creationId xmlns:a16="http://schemas.microsoft.com/office/drawing/2014/main" id="{6ADE09F9-4312-65FC-B3BC-402D23F686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70" t="18424" r="11070" b="17996"/>
          <a:stretch/>
        </p:blipFill>
        <p:spPr>
          <a:xfrm>
            <a:off x="5878231" y="1425711"/>
            <a:ext cx="4705455" cy="2209346"/>
          </a:xfrm>
          <a:prstGeom prst="roundRect">
            <a:avLst>
              <a:gd name="adj" fmla="val 6551"/>
            </a:avLst>
          </a:prstGeom>
        </p:spPr>
      </p:pic>
      <p:pic>
        <p:nvPicPr>
          <p:cNvPr id="16" name="Image 15" descr="Une image contenant texte, capture d’écran, logiciel, affichage&#10;&#10;Description générée automatiquement">
            <a:extLst>
              <a:ext uri="{FF2B5EF4-FFF2-40B4-BE49-F238E27FC236}">
                <a16:creationId xmlns:a16="http://schemas.microsoft.com/office/drawing/2014/main" id="{77BFC387-4AEF-AE3E-CEB5-4E846A172A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76" t="6703" r="9252" b="6173"/>
          <a:stretch/>
        </p:blipFill>
        <p:spPr>
          <a:xfrm>
            <a:off x="2219495" y="1350399"/>
            <a:ext cx="3342713" cy="4744080"/>
          </a:xfrm>
          <a:prstGeom prst="roundRect">
            <a:avLst>
              <a:gd name="adj" fmla="val 6486"/>
            </a:avLst>
          </a:prstGeom>
        </p:spPr>
      </p:pic>
      <p:pic>
        <p:nvPicPr>
          <p:cNvPr id="18" name="Image 17" descr="Une image contenant texte, carte de visite, capture d’écran, Police&#10;&#10;Description générée automatiquement">
            <a:extLst>
              <a:ext uri="{FF2B5EF4-FFF2-40B4-BE49-F238E27FC236}">
                <a16:creationId xmlns:a16="http://schemas.microsoft.com/office/drawing/2014/main" id="{45746DCA-D35D-1174-B1B1-274B184F5F6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97" t="14813" r="6769" b="14848"/>
          <a:stretch/>
        </p:blipFill>
        <p:spPr>
          <a:xfrm>
            <a:off x="5878231" y="3981858"/>
            <a:ext cx="4599035" cy="1863452"/>
          </a:xfrm>
          <a:prstGeom prst="roundRect">
            <a:avLst>
              <a:gd name="adj" fmla="val 9511"/>
            </a:avLst>
          </a:prstGeom>
        </p:spPr>
      </p:pic>
    </p:spTree>
    <p:extLst>
      <p:ext uri="{BB962C8B-B14F-4D97-AF65-F5344CB8AC3E}">
        <p14:creationId xmlns:p14="http://schemas.microsoft.com/office/powerpoint/2010/main" val="3939409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45DC7-70C1-3322-5763-DA7DD506B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EFCBF494-E079-966E-0482-B3ACF6FBF2C6}"/>
              </a:ext>
            </a:extLst>
          </p:cNvPr>
          <p:cNvSpPr txBox="1"/>
          <p:nvPr/>
        </p:nvSpPr>
        <p:spPr>
          <a:xfrm>
            <a:off x="921581" y="2752903"/>
            <a:ext cx="315017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base">
              <a:spcBef>
                <a:spcPts val="1200"/>
              </a:spcBef>
              <a:spcAft>
                <a:spcPts val="1200"/>
              </a:spcAft>
            </a:pPr>
            <a:r>
              <a:rPr lang="en-US" sz="1100" b="0" i="0" u="none" strike="noStrike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Allows an object to alter its behavior when its internal state changes, appearing to change its class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139FBA6-5C12-D536-B61B-9E94F38D39EA}"/>
              </a:ext>
            </a:extLst>
          </p:cNvPr>
          <p:cNvSpPr txBox="1"/>
          <p:nvPr/>
        </p:nvSpPr>
        <p:spPr>
          <a:xfrm>
            <a:off x="3003428" y="136525"/>
            <a:ext cx="61851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3B3B5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Summary</a:t>
            </a:r>
            <a:endParaRPr lang="fr-FR" sz="4400" b="1" dirty="0">
              <a:solidFill>
                <a:srgbClr val="3B3B5B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5222609-845B-244E-A0D3-C88A89295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B3565-521F-4C94-BD9C-7BD2C4223877}" type="slidenum">
              <a:rPr lang="fr-FR" smtClean="0"/>
              <a:t>15</a:t>
            </a:fld>
            <a:endParaRPr lang="fr-FR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44A2472E-53C6-20A5-5FD4-5C9CC2242E86}"/>
              </a:ext>
            </a:extLst>
          </p:cNvPr>
          <p:cNvSpPr/>
          <p:nvPr/>
        </p:nvSpPr>
        <p:spPr>
          <a:xfrm>
            <a:off x="5437235" y="6538912"/>
            <a:ext cx="1317523" cy="45719"/>
          </a:xfrm>
          <a:prstGeom prst="roundRect">
            <a:avLst>
              <a:gd name="adj" fmla="val 50000"/>
            </a:avLst>
          </a:prstGeom>
          <a:solidFill>
            <a:srgbClr val="5454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0EF323C0-7C8E-DD1C-AFAC-B950FCCA7CA2}"/>
              </a:ext>
            </a:extLst>
          </p:cNvPr>
          <p:cNvCxnSpPr/>
          <p:nvPr/>
        </p:nvCxnSpPr>
        <p:spPr>
          <a:xfrm>
            <a:off x="350786" y="1364272"/>
            <a:ext cx="0" cy="4310103"/>
          </a:xfrm>
          <a:prstGeom prst="line">
            <a:avLst/>
          </a:prstGeom>
          <a:ln>
            <a:solidFill>
              <a:srgbClr val="9292B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Ellipse 10">
            <a:extLst>
              <a:ext uri="{FF2B5EF4-FFF2-40B4-BE49-F238E27FC236}">
                <a16:creationId xmlns:a16="http://schemas.microsoft.com/office/drawing/2014/main" id="{5993F2F7-B9E0-0BBE-6DCA-AC78F0361AAE}"/>
              </a:ext>
            </a:extLst>
          </p:cNvPr>
          <p:cNvSpPr/>
          <p:nvPr/>
        </p:nvSpPr>
        <p:spPr>
          <a:xfrm>
            <a:off x="150276" y="1257928"/>
            <a:ext cx="407370" cy="407370"/>
          </a:xfrm>
          <a:prstGeom prst="ellipse">
            <a:avLst/>
          </a:prstGeom>
          <a:solidFill>
            <a:srgbClr val="9292B8"/>
          </a:solidFill>
          <a:ln>
            <a:solidFill>
              <a:srgbClr val="54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9292B8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2A6DD96-C2AC-4AF6-C540-3C8701423C34}"/>
              </a:ext>
            </a:extLst>
          </p:cNvPr>
          <p:cNvSpPr txBox="1"/>
          <p:nvPr/>
        </p:nvSpPr>
        <p:spPr>
          <a:xfrm>
            <a:off x="4782773" y="4744307"/>
            <a:ext cx="262644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Prompt" panose="00000800000000000000" pitchFamily="2" charset="-34"/>
              </a:rPr>
              <a:t>State Pattern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38510ED1-F95B-8609-ACC2-98637B505F65}"/>
              </a:ext>
            </a:extLst>
          </p:cNvPr>
          <p:cNvSpPr txBox="1"/>
          <p:nvPr/>
        </p:nvSpPr>
        <p:spPr>
          <a:xfrm>
            <a:off x="8399975" y="4744307"/>
            <a:ext cx="262644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Prompt" panose="00000800000000000000" pitchFamily="2" charset="-34"/>
              </a:rPr>
              <a:t>Differences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D41BF81-8F55-FB9F-1815-F0D775475463}"/>
              </a:ext>
            </a:extLst>
          </p:cNvPr>
          <p:cNvSpPr txBox="1"/>
          <p:nvPr/>
        </p:nvSpPr>
        <p:spPr>
          <a:xfrm>
            <a:off x="1165571" y="4744307"/>
            <a:ext cx="262644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Prompt" panose="00000800000000000000" pitchFamily="2" charset="-34"/>
              </a:rPr>
              <a:t>Strategy Pattern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58629C0-739D-1CD0-E804-FC2D9DE408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0" r="7790"/>
          <a:stretch/>
        </p:blipFill>
        <p:spPr bwMode="auto">
          <a:xfrm>
            <a:off x="885828" y="2179454"/>
            <a:ext cx="3185928" cy="2358672"/>
          </a:xfrm>
          <a:prstGeom prst="roundRect">
            <a:avLst>
              <a:gd name="adj" fmla="val 13436"/>
            </a:avLst>
          </a:pr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F9A8931B-04C0-68E1-DC2A-870768511E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5" r="6824"/>
          <a:stretch/>
        </p:blipFill>
        <p:spPr bwMode="auto">
          <a:xfrm>
            <a:off x="4503030" y="2179454"/>
            <a:ext cx="3185929" cy="2358672"/>
          </a:xfrm>
          <a:prstGeom prst="roundRect">
            <a:avLst/>
          </a:pr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28934FD6-B330-77E3-A7D9-8B95A4A334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5" r="50993"/>
          <a:stretch/>
        </p:blipFill>
        <p:spPr bwMode="auto">
          <a:xfrm>
            <a:off x="8120230" y="2179454"/>
            <a:ext cx="1519071" cy="2358672"/>
          </a:xfrm>
          <a:custGeom>
            <a:avLst/>
            <a:gdLst>
              <a:gd name="connsiteX0" fmla="*/ 393120 w 1519071"/>
              <a:gd name="connsiteY0" fmla="*/ 0 h 2358672"/>
              <a:gd name="connsiteX1" fmla="*/ 1519071 w 1519071"/>
              <a:gd name="connsiteY1" fmla="*/ 0 h 2358672"/>
              <a:gd name="connsiteX2" fmla="*/ 1519071 w 1519071"/>
              <a:gd name="connsiteY2" fmla="*/ 2358672 h 2358672"/>
              <a:gd name="connsiteX3" fmla="*/ 393120 w 1519071"/>
              <a:gd name="connsiteY3" fmla="*/ 2358672 h 2358672"/>
              <a:gd name="connsiteX4" fmla="*/ 0 w 1519071"/>
              <a:gd name="connsiteY4" fmla="*/ 1965552 h 2358672"/>
              <a:gd name="connsiteX5" fmla="*/ 0 w 1519071"/>
              <a:gd name="connsiteY5" fmla="*/ 393120 h 2358672"/>
              <a:gd name="connsiteX6" fmla="*/ 393120 w 1519071"/>
              <a:gd name="connsiteY6" fmla="*/ 0 h 2358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9071" h="2358672">
                <a:moveTo>
                  <a:pt x="393120" y="0"/>
                </a:moveTo>
                <a:lnTo>
                  <a:pt x="1519071" y="0"/>
                </a:lnTo>
                <a:lnTo>
                  <a:pt x="1519071" y="2358672"/>
                </a:lnTo>
                <a:lnTo>
                  <a:pt x="393120" y="2358672"/>
                </a:lnTo>
                <a:cubicBezTo>
                  <a:pt x="176006" y="2358672"/>
                  <a:pt x="0" y="2182666"/>
                  <a:pt x="0" y="1965552"/>
                </a:cubicBezTo>
                <a:lnTo>
                  <a:pt x="0" y="393120"/>
                </a:lnTo>
                <a:cubicBezTo>
                  <a:pt x="0" y="176006"/>
                  <a:pt x="176006" y="0"/>
                  <a:pt x="393120" y="0"/>
                </a:cubicBezTo>
                <a:close/>
              </a:path>
            </a:pathLst>
          </a:cu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D4C8BA82-F79D-8547-4202-B141D13A4E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31"/>
          <a:stretch/>
        </p:blipFill>
        <p:spPr bwMode="auto">
          <a:xfrm>
            <a:off x="9639301" y="2179454"/>
            <a:ext cx="1666859" cy="2358672"/>
          </a:xfrm>
          <a:custGeom>
            <a:avLst/>
            <a:gdLst>
              <a:gd name="connsiteX0" fmla="*/ 0 w 1666859"/>
              <a:gd name="connsiteY0" fmla="*/ 0 h 2358672"/>
              <a:gd name="connsiteX1" fmla="*/ 1349948 w 1666859"/>
              <a:gd name="connsiteY1" fmla="*/ 0 h 2358672"/>
              <a:gd name="connsiteX2" fmla="*/ 1666859 w 1666859"/>
              <a:gd name="connsiteY2" fmla="*/ 316911 h 2358672"/>
              <a:gd name="connsiteX3" fmla="*/ 1666859 w 1666859"/>
              <a:gd name="connsiteY3" fmla="*/ 2041761 h 2358672"/>
              <a:gd name="connsiteX4" fmla="*/ 1349948 w 1666859"/>
              <a:gd name="connsiteY4" fmla="*/ 2358672 h 2358672"/>
              <a:gd name="connsiteX5" fmla="*/ 0 w 1666859"/>
              <a:gd name="connsiteY5" fmla="*/ 2358672 h 2358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6859" h="2358672">
                <a:moveTo>
                  <a:pt x="0" y="0"/>
                </a:moveTo>
                <a:lnTo>
                  <a:pt x="1349948" y="0"/>
                </a:lnTo>
                <a:cubicBezTo>
                  <a:pt x="1524973" y="0"/>
                  <a:pt x="1666859" y="141886"/>
                  <a:pt x="1666859" y="316911"/>
                </a:cubicBezTo>
                <a:lnTo>
                  <a:pt x="1666859" y="2041761"/>
                </a:lnTo>
                <a:cubicBezTo>
                  <a:pt x="1666859" y="2216786"/>
                  <a:pt x="1524973" y="2358672"/>
                  <a:pt x="1349948" y="2358672"/>
                </a:cubicBezTo>
                <a:lnTo>
                  <a:pt x="0" y="2358672"/>
                </a:lnTo>
                <a:close/>
              </a:path>
            </a:pathLst>
          </a:cu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85069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943AC-D210-51E2-05C7-0287591EB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EDF8D7DF-9D0A-31AA-9152-2929E4F0E712}"/>
              </a:ext>
            </a:extLst>
          </p:cNvPr>
          <p:cNvSpPr txBox="1"/>
          <p:nvPr/>
        </p:nvSpPr>
        <p:spPr>
          <a:xfrm>
            <a:off x="3003428" y="136525"/>
            <a:ext cx="61851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3B3B5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Differences</a:t>
            </a:r>
            <a:endParaRPr lang="fr-FR" sz="4400" b="1" dirty="0">
              <a:solidFill>
                <a:srgbClr val="3B3B5B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69599DC-CC46-A830-3F26-CC78366D4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B3565-521F-4C94-BD9C-7BD2C4223877}" type="slidenum">
              <a:rPr lang="fr-FR" smtClean="0"/>
              <a:t>16</a:t>
            </a:fld>
            <a:endParaRPr lang="fr-FR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2227EB45-FB18-0D12-41FB-AA08C41BBDC2}"/>
              </a:ext>
            </a:extLst>
          </p:cNvPr>
          <p:cNvSpPr/>
          <p:nvPr/>
        </p:nvSpPr>
        <p:spPr>
          <a:xfrm>
            <a:off x="5437235" y="6538912"/>
            <a:ext cx="1317523" cy="45719"/>
          </a:xfrm>
          <a:prstGeom prst="roundRect">
            <a:avLst>
              <a:gd name="adj" fmla="val 50000"/>
            </a:avLst>
          </a:prstGeom>
          <a:solidFill>
            <a:srgbClr val="5454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E1447B73-D945-2A2D-374A-0364F514CCC5}"/>
              </a:ext>
            </a:extLst>
          </p:cNvPr>
          <p:cNvCxnSpPr/>
          <p:nvPr/>
        </p:nvCxnSpPr>
        <p:spPr>
          <a:xfrm>
            <a:off x="350786" y="1364272"/>
            <a:ext cx="0" cy="4310103"/>
          </a:xfrm>
          <a:prstGeom prst="line">
            <a:avLst/>
          </a:prstGeom>
          <a:ln>
            <a:solidFill>
              <a:srgbClr val="9292B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Ellipse 10">
            <a:extLst>
              <a:ext uri="{FF2B5EF4-FFF2-40B4-BE49-F238E27FC236}">
                <a16:creationId xmlns:a16="http://schemas.microsoft.com/office/drawing/2014/main" id="{17C84E77-53A9-AEE4-71C0-F49990094FE4}"/>
              </a:ext>
            </a:extLst>
          </p:cNvPr>
          <p:cNvSpPr/>
          <p:nvPr/>
        </p:nvSpPr>
        <p:spPr>
          <a:xfrm>
            <a:off x="147101" y="1872765"/>
            <a:ext cx="407370" cy="407370"/>
          </a:xfrm>
          <a:prstGeom prst="ellipse">
            <a:avLst/>
          </a:prstGeom>
          <a:solidFill>
            <a:srgbClr val="9292B8"/>
          </a:solidFill>
          <a:ln>
            <a:solidFill>
              <a:srgbClr val="54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9292B8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DF6D2B4-A091-000B-0DF0-C9A7F674706A}"/>
              </a:ext>
            </a:extLst>
          </p:cNvPr>
          <p:cNvSpPr txBox="1"/>
          <p:nvPr/>
        </p:nvSpPr>
        <p:spPr>
          <a:xfrm>
            <a:off x="-3482536" y="4744307"/>
            <a:ext cx="262644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Prompt" panose="00000800000000000000" pitchFamily="2" charset="-34"/>
              </a:rPr>
              <a:t>State Pattern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A51F93A-9809-D0FD-0340-96992A6AD116}"/>
              </a:ext>
            </a:extLst>
          </p:cNvPr>
          <p:cNvSpPr txBox="1"/>
          <p:nvPr/>
        </p:nvSpPr>
        <p:spPr>
          <a:xfrm>
            <a:off x="-7099738" y="4744307"/>
            <a:ext cx="262644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Prompt" panose="00000800000000000000" pitchFamily="2" charset="-34"/>
              </a:rPr>
              <a:t>Strategy Pattern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C415FB6-06DA-39D9-748D-219366C2D9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0" r="7790"/>
          <a:stretch/>
        </p:blipFill>
        <p:spPr bwMode="auto">
          <a:xfrm>
            <a:off x="-7379482" y="2179454"/>
            <a:ext cx="3185928" cy="2358672"/>
          </a:xfrm>
          <a:prstGeom prst="roundRect">
            <a:avLst>
              <a:gd name="adj" fmla="val 13436"/>
            </a:avLst>
          </a:pr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31F9BEA8-DC2E-DD2A-1137-191F099808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5" r="6824"/>
          <a:stretch/>
        </p:blipFill>
        <p:spPr bwMode="auto">
          <a:xfrm>
            <a:off x="-3762279" y="2179454"/>
            <a:ext cx="3185929" cy="2358672"/>
          </a:xfrm>
          <a:prstGeom prst="roundRect">
            <a:avLst/>
          </a:pr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CBDE2EB1-4FDC-B034-AB01-5C60730614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893131"/>
              </p:ext>
            </p:extLst>
          </p:nvPr>
        </p:nvGraphicFramePr>
        <p:xfrm>
          <a:off x="1712649" y="1997296"/>
          <a:ext cx="8766702" cy="3928006"/>
        </p:xfrm>
        <a:graphic>
          <a:graphicData uri="http://schemas.openxmlformats.org/drawingml/2006/table">
            <a:tbl>
              <a:tblPr/>
              <a:tblGrid>
                <a:gridCol w="2922234">
                  <a:extLst>
                    <a:ext uri="{9D8B030D-6E8A-4147-A177-3AD203B41FA5}">
                      <a16:colId xmlns:a16="http://schemas.microsoft.com/office/drawing/2014/main" val="963215999"/>
                    </a:ext>
                  </a:extLst>
                </a:gridCol>
                <a:gridCol w="2922234">
                  <a:extLst>
                    <a:ext uri="{9D8B030D-6E8A-4147-A177-3AD203B41FA5}">
                      <a16:colId xmlns:a16="http://schemas.microsoft.com/office/drawing/2014/main" val="619653346"/>
                    </a:ext>
                  </a:extLst>
                </a:gridCol>
                <a:gridCol w="2922234">
                  <a:extLst>
                    <a:ext uri="{9D8B030D-6E8A-4147-A177-3AD203B41FA5}">
                      <a16:colId xmlns:a16="http://schemas.microsoft.com/office/drawing/2014/main" val="2478894002"/>
                    </a:ext>
                  </a:extLst>
                </a:gridCol>
              </a:tblGrid>
              <a:tr h="563656">
                <a:tc>
                  <a:txBody>
                    <a:bodyPr/>
                    <a:lstStyle/>
                    <a:p>
                      <a:pPr fontAlgn="t"/>
                      <a:r>
                        <a:rPr lang="fr-FR" sz="2200" dirty="0">
                          <a:effectLst/>
                        </a:rPr>
                        <a:t> </a:t>
                      </a:r>
                    </a:p>
                  </a:txBody>
                  <a:tcPr marL="115503" marR="115503" marT="115503" marB="1155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fr-FR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State</a:t>
                      </a:r>
                      <a:endParaRPr lang="fr-FR" sz="2200" dirty="0">
                        <a:effectLst/>
                      </a:endParaRPr>
                    </a:p>
                  </a:txBody>
                  <a:tcPr marL="115503" marR="115503" marT="115503" marB="115503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fr-FR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Strategy</a:t>
                      </a:r>
                      <a:endParaRPr lang="fr-FR" sz="2200" dirty="0">
                        <a:effectLst/>
                      </a:endParaRPr>
                    </a:p>
                  </a:txBody>
                  <a:tcPr marL="115503" marR="115503" marT="115503" marB="115503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0440244"/>
                  </a:ext>
                </a:extLst>
              </a:tr>
              <a:tr h="563656"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Context relationship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Context holds a reference to the current state.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Context uses one of the strategies to perform an operation.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6973210"/>
                  </a:ext>
                </a:extLst>
              </a:tr>
              <a:tr h="748462">
                <a:tc>
                  <a:txBody>
                    <a:bodyPr/>
                    <a:lstStyle/>
                    <a:p>
                      <a:pPr rtl="0" fontAlgn="t"/>
                      <a:r>
                        <a:rPr lang="fr-FR" sz="1400" b="0" dirty="0" err="1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Implementation</a:t>
                      </a:r>
                      <a:endParaRPr lang="en-US" sz="1400" b="0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b="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State classes can transition between each other.</a:t>
                      </a:r>
                      <a:endParaRPr lang="en-US" sz="1400" b="0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b="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Strategies do not manage or know about each other.</a:t>
                      </a:r>
                      <a:endParaRPr lang="en-US" sz="1400" b="0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4466339"/>
                  </a:ext>
                </a:extLst>
              </a:tr>
              <a:tr h="748462">
                <a:tc>
                  <a:txBody>
                    <a:bodyPr/>
                    <a:lstStyle/>
                    <a:p>
                      <a:pPr rtl="0" fontAlgn="t"/>
                      <a:r>
                        <a:rPr lang="fr-FR" sz="1400" b="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Change Trigger</a:t>
                      </a:r>
                      <a:endParaRPr lang="en-US" sz="1400" b="0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Changes occur based on the state transitions (internal logic).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Changes are determined externally, often at runtime.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0184445"/>
                  </a:ext>
                </a:extLst>
              </a:tr>
              <a:tr h="748462">
                <a:tc>
                  <a:txBody>
                    <a:bodyPr/>
                    <a:lstStyle/>
                    <a:p>
                      <a:pPr rtl="0" fontAlgn="t"/>
                      <a:r>
                        <a:rPr lang="fr-FR" sz="1400" b="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Dynamic </a:t>
                      </a:r>
                      <a:r>
                        <a:rPr lang="fr-FR" sz="1400" b="0" dirty="0" err="1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Behavior</a:t>
                      </a:r>
                      <a:endParaRPr lang="en-US" sz="1400" b="0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b="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Focuses on managing behavioral changes over time.</a:t>
                      </a:r>
                      <a:endParaRPr lang="en-US" sz="1400" b="0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b="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Focuses on behavioral selection based on input or configuration.</a:t>
                      </a:r>
                      <a:endParaRPr lang="en-US" sz="1400" b="0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6526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169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3E85C-BB4B-D010-D45E-D55A73FDA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5F7C9EA8-16A0-2F61-DBB0-28DD64361105}"/>
              </a:ext>
            </a:extLst>
          </p:cNvPr>
          <p:cNvSpPr txBox="1"/>
          <p:nvPr/>
        </p:nvSpPr>
        <p:spPr>
          <a:xfrm>
            <a:off x="3003428" y="136525"/>
            <a:ext cx="61851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3B3B5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Differences</a:t>
            </a:r>
            <a:endParaRPr lang="fr-FR" sz="4400" b="1" dirty="0">
              <a:solidFill>
                <a:srgbClr val="3B3B5B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8811D34-0601-6E50-4355-E0DD42C7D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B3565-521F-4C94-BD9C-7BD2C4223877}" type="slidenum">
              <a:rPr lang="fr-FR" smtClean="0"/>
              <a:t>17</a:t>
            </a:fld>
            <a:endParaRPr lang="fr-FR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D105074E-05C2-6B0C-0E6A-312BD0073A9F}"/>
              </a:ext>
            </a:extLst>
          </p:cNvPr>
          <p:cNvSpPr/>
          <p:nvPr/>
        </p:nvSpPr>
        <p:spPr>
          <a:xfrm>
            <a:off x="5437235" y="6538912"/>
            <a:ext cx="1317523" cy="45719"/>
          </a:xfrm>
          <a:prstGeom prst="roundRect">
            <a:avLst>
              <a:gd name="adj" fmla="val 50000"/>
            </a:avLst>
          </a:prstGeom>
          <a:solidFill>
            <a:srgbClr val="5454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3584E2B6-6D8F-DDCF-87D7-D61801102C8F}"/>
              </a:ext>
            </a:extLst>
          </p:cNvPr>
          <p:cNvCxnSpPr/>
          <p:nvPr/>
        </p:nvCxnSpPr>
        <p:spPr>
          <a:xfrm>
            <a:off x="350786" y="1364272"/>
            <a:ext cx="0" cy="4310103"/>
          </a:xfrm>
          <a:prstGeom prst="line">
            <a:avLst/>
          </a:prstGeom>
          <a:ln>
            <a:solidFill>
              <a:srgbClr val="9292B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Ellipse 10">
            <a:extLst>
              <a:ext uri="{FF2B5EF4-FFF2-40B4-BE49-F238E27FC236}">
                <a16:creationId xmlns:a16="http://schemas.microsoft.com/office/drawing/2014/main" id="{EDD48500-04AF-4782-A610-B38061C2D719}"/>
              </a:ext>
            </a:extLst>
          </p:cNvPr>
          <p:cNvSpPr/>
          <p:nvPr/>
        </p:nvSpPr>
        <p:spPr>
          <a:xfrm>
            <a:off x="147101" y="2951420"/>
            <a:ext cx="407370" cy="407370"/>
          </a:xfrm>
          <a:prstGeom prst="ellipse">
            <a:avLst/>
          </a:prstGeom>
          <a:solidFill>
            <a:srgbClr val="9292B8"/>
          </a:solidFill>
          <a:ln>
            <a:solidFill>
              <a:srgbClr val="54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9292B8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3220D2A-6C48-9780-B9C8-A407389A2F68}"/>
              </a:ext>
            </a:extLst>
          </p:cNvPr>
          <p:cNvSpPr txBox="1"/>
          <p:nvPr/>
        </p:nvSpPr>
        <p:spPr>
          <a:xfrm>
            <a:off x="-3482536" y="4744307"/>
            <a:ext cx="262644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Prompt" panose="00000800000000000000" pitchFamily="2" charset="-34"/>
              </a:rPr>
              <a:t>State Pattern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A471B9F-3EB3-7BA6-5886-B21D1A090C95}"/>
              </a:ext>
            </a:extLst>
          </p:cNvPr>
          <p:cNvSpPr txBox="1"/>
          <p:nvPr/>
        </p:nvSpPr>
        <p:spPr>
          <a:xfrm>
            <a:off x="-7099738" y="4744307"/>
            <a:ext cx="262644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Prompt" panose="00000800000000000000" pitchFamily="2" charset="-34"/>
              </a:rPr>
              <a:t>Strategy Pattern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19C6B03-3EB6-6D1D-47B7-02DC7AAB0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0" r="7790"/>
          <a:stretch/>
        </p:blipFill>
        <p:spPr bwMode="auto">
          <a:xfrm>
            <a:off x="-7379482" y="2179454"/>
            <a:ext cx="3185928" cy="2358672"/>
          </a:xfrm>
          <a:prstGeom prst="roundRect">
            <a:avLst>
              <a:gd name="adj" fmla="val 13436"/>
            </a:avLst>
          </a:pr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1C7C62FC-E910-9D92-8F2D-319973322D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5" r="6824"/>
          <a:stretch/>
        </p:blipFill>
        <p:spPr bwMode="auto">
          <a:xfrm>
            <a:off x="-3762279" y="2179454"/>
            <a:ext cx="3185929" cy="2358672"/>
          </a:xfrm>
          <a:prstGeom prst="roundRect">
            <a:avLst/>
          </a:pr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E70D6DAC-E80B-476F-7B5F-CE8DBCB0EE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327107"/>
              </p:ext>
            </p:extLst>
          </p:nvPr>
        </p:nvGraphicFramePr>
        <p:xfrm>
          <a:off x="1712649" y="1997296"/>
          <a:ext cx="8766702" cy="3928006"/>
        </p:xfrm>
        <a:graphic>
          <a:graphicData uri="http://schemas.openxmlformats.org/drawingml/2006/table">
            <a:tbl>
              <a:tblPr/>
              <a:tblGrid>
                <a:gridCol w="2922234">
                  <a:extLst>
                    <a:ext uri="{9D8B030D-6E8A-4147-A177-3AD203B41FA5}">
                      <a16:colId xmlns:a16="http://schemas.microsoft.com/office/drawing/2014/main" val="963215999"/>
                    </a:ext>
                  </a:extLst>
                </a:gridCol>
                <a:gridCol w="2922234">
                  <a:extLst>
                    <a:ext uri="{9D8B030D-6E8A-4147-A177-3AD203B41FA5}">
                      <a16:colId xmlns:a16="http://schemas.microsoft.com/office/drawing/2014/main" val="619653346"/>
                    </a:ext>
                  </a:extLst>
                </a:gridCol>
                <a:gridCol w="2922234">
                  <a:extLst>
                    <a:ext uri="{9D8B030D-6E8A-4147-A177-3AD203B41FA5}">
                      <a16:colId xmlns:a16="http://schemas.microsoft.com/office/drawing/2014/main" val="2478894002"/>
                    </a:ext>
                  </a:extLst>
                </a:gridCol>
              </a:tblGrid>
              <a:tr h="563656">
                <a:tc>
                  <a:txBody>
                    <a:bodyPr/>
                    <a:lstStyle/>
                    <a:p>
                      <a:pPr fontAlgn="t"/>
                      <a:r>
                        <a:rPr lang="fr-FR" sz="2200" dirty="0">
                          <a:effectLst/>
                        </a:rPr>
                        <a:t> </a:t>
                      </a:r>
                    </a:p>
                  </a:txBody>
                  <a:tcPr marL="115503" marR="115503" marT="115503" marB="1155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State</a:t>
                      </a:r>
                    </a:p>
                  </a:txBody>
                  <a:tcPr marL="115503" marR="115503" marT="115503" marB="115503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fr-FR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Strategy</a:t>
                      </a:r>
                      <a:endParaRPr lang="fr-FR" sz="2200" dirty="0">
                        <a:effectLst/>
                      </a:endParaRPr>
                    </a:p>
                  </a:txBody>
                  <a:tcPr marL="115503" marR="115503" marT="115503" marB="115503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0440244"/>
                  </a:ext>
                </a:extLst>
              </a:tr>
              <a:tr h="563656"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Context relationship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Context holds a reference to the current state.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Context uses one of the strategies to perform an operation.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6973210"/>
                  </a:ext>
                </a:extLst>
              </a:tr>
              <a:tr h="748462">
                <a:tc>
                  <a:txBody>
                    <a:bodyPr/>
                    <a:lstStyle/>
                    <a:p>
                      <a:pPr rtl="0" fontAlgn="t"/>
                      <a:r>
                        <a:rPr lang="fr-FR" sz="1400" b="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Implementation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b="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State classes can transition between each other.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b="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Strategies do not manage or know about each other.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4466339"/>
                  </a:ext>
                </a:extLst>
              </a:tr>
              <a:tr h="748462">
                <a:tc>
                  <a:txBody>
                    <a:bodyPr/>
                    <a:lstStyle/>
                    <a:p>
                      <a:pPr rtl="0" fontAlgn="t"/>
                      <a:r>
                        <a:rPr lang="fr-FR" sz="1400" b="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Change Trigger</a:t>
                      </a:r>
                      <a:endParaRPr lang="en-US" sz="1400" b="0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Changes occur based on the state transitions (internal logic).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Changes are determined externally, often at runtime.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0184445"/>
                  </a:ext>
                </a:extLst>
              </a:tr>
              <a:tr h="748462">
                <a:tc>
                  <a:txBody>
                    <a:bodyPr/>
                    <a:lstStyle/>
                    <a:p>
                      <a:pPr rtl="0" fontAlgn="t"/>
                      <a:r>
                        <a:rPr lang="fr-FR" sz="1400" b="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Dynamic </a:t>
                      </a:r>
                      <a:r>
                        <a:rPr lang="fr-FR" sz="1400" b="0" dirty="0" err="1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Behavior</a:t>
                      </a:r>
                      <a:endParaRPr lang="en-US" sz="1400" b="0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b="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Focuses on managing behavioral changes over time.</a:t>
                      </a:r>
                      <a:endParaRPr lang="en-US" sz="1400" b="0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b="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Focuses on behavioral selection based on input or configuration.</a:t>
                      </a:r>
                      <a:endParaRPr lang="en-US" sz="1400" b="0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6526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70638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06853-E4E1-DB21-224B-CC292D88D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D18EB2D9-B3B2-DAF7-20FE-22953D0E55EE}"/>
              </a:ext>
            </a:extLst>
          </p:cNvPr>
          <p:cNvSpPr txBox="1"/>
          <p:nvPr/>
        </p:nvSpPr>
        <p:spPr>
          <a:xfrm>
            <a:off x="3003428" y="136525"/>
            <a:ext cx="61851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3B3B5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Differences</a:t>
            </a:r>
            <a:endParaRPr lang="fr-FR" sz="4400" b="1" dirty="0">
              <a:solidFill>
                <a:srgbClr val="3B3B5B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E0C2E4C-71CA-89C4-6FD4-5C9B92BA3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B3565-521F-4C94-BD9C-7BD2C4223877}" type="slidenum">
              <a:rPr lang="fr-FR" smtClean="0"/>
              <a:t>18</a:t>
            </a:fld>
            <a:endParaRPr lang="fr-FR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0B9F0D0B-4C01-2B74-C4B3-F071F53DF40A}"/>
              </a:ext>
            </a:extLst>
          </p:cNvPr>
          <p:cNvSpPr/>
          <p:nvPr/>
        </p:nvSpPr>
        <p:spPr>
          <a:xfrm>
            <a:off x="5437235" y="6538912"/>
            <a:ext cx="1317523" cy="45719"/>
          </a:xfrm>
          <a:prstGeom prst="roundRect">
            <a:avLst>
              <a:gd name="adj" fmla="val 50000"/>
            </a:avLst>
          </a:prstGeom>
          <a:solidFill>
            <a:srgbClr val="5454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CB677847-9D54-0FB8-DB28-794197D8902D}"/>
              </a:ext>
            </a:extLst>
          </p:cNvPr>
          <p:cNvCxnSpPr/>
          <p:nvPr/>
        </p:nvCxnSpPr>
        <p:spPr>
          <a:xfrm>
            <a:off x="350786" y="1364272"/>
            <a:ext cx="0" cy="4310103"/>
          </a:xfrm>
          <a:prstGeom prst="line">
            <a:avLst/>
          </a:prstGeom>
          <a:ln>
            <a:solidFill>
              <a:srgbClr val="9292B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Ellipse 10">
            <a:extLst>
              <a:ext uri="{FF2B5EF4-FFF2-40B4-BE49-F238E27FC236}">
                <a16:creationId xmlns:a16="http://schemas.microsoft.com/office/drawing/2014/main" id="{246B55B1-2904-9093-D973-59296FACB81D}"/>
              </a:ext>
            </a:extLst>
          </p:cNvPr>
          <p:cNvSpPr/>
          <p:nvPr/>
        </p:nvSpPr>
        <p:spPr>
          <a:xfrm>
            <a:off x="147101" y="4130756"/>
            <a:ext cx="407370" cy="407370"/>
          </a:xfrm>
          <a:prstGeom prst="ellipse">
            <a:avLst/>
          </a:prstGeom>
          <a:solidFill>
            <a:srgbClr val="9292B8"/>
          </a:solidFill>
          <a:ln>
            <a:solidFill>
              <a:srgbClr val="54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9292B8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1EFD1A5-E658-CEBA-80C5-9D31783AD337}"/>
              </a:ext>
            </a:extLst>
          </p:cNvPr>
          <p:cNvSpPr txBox="1"/>
          <p:nvPr/>
        </p:nvSpPr>
        <p:spPr>
          <a:xfrm>
            <a:off x="-3482536" y="4744307"/>
            <a:ext cx="262644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Prompt" panose="00000800000000000000" pitchFamily="2" charset="-34"/>
              </a:rPr>
              <a:t>State Pattern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FC2056C-A628-6BDD-27B7-4F5FFA1D8B62}"/>
              </a:ext>
            </a:extLst>
          </p:cNvPr>
          <p:cNvSpPr txBox="1"/>
          <p:nvPr/>
        </p:nvSpPr>
        <p:spPr>
          <a:xfrm>
            <a:off x="-7099738" y="4744307"/>
            <a:ext cx="262644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Prompt" panose="00000800000000000000" pitchFamily="2" charset="-34"/>
              </a:rPr>
              <a:t>Strategy Pattern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C447C47-7457-8567-8686-81CE468ADE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0" r="7790"/>
          <a:stretch/>
        </p:blipFill>
        <p:spPr bwMode="auto">
          <a:xfrm>
            <a:off x="-7379482" y="2179454"/>
            <a:ext cx="3185928" cy="2358672"/>
          </a:xfrm>
          <a:prstGeom prst="roundRect">
            <a:avLst>
              <a:gd name="adj" fmla="val 13436"/>
            </a:avLst>
          </a:pr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97B7366E-2287-2B53-C156-5578ACB659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5" r="6824"/>
          <a:stretch/>
        </p:blipFill>
        <p:spPr bwMode="auto">
          <a:xfrm>
            <a:off x="-3762279" y="2179454"/>
            <a:ext cx="3185929" cy="2358672"/>
          </a:xfrm>
          <a:prstGeom prst="roundRect">
            <a:avLst/>
          </a:pr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A3D376CF-CC51-F1F8-BE29-37C8B11E2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188345"/>
              </p:ext>
            </p:extLst>
          </p:nvPr>
        </p:nvGraphicFramePr>
        <p:xfrm>
          <a:off x="1712649" y="1997296"/>
          <a:ext cx="8766702" cy="3928006"/>
        </p:xfrm>
        <a:graphic>
          <a:graphicData uri="http://schemas.openxmlformats.org/drawingml/2006/table">
            <a:tbl>
              <a:tblPr/>
              <a:tblGrid>
                <a:gridCol w="2922234">
                  <a:extLst>
                    <a:ext uri="{9D8B030D-6E8A-4147-A177-3AD203B41FA5}">
                      <a16:colId xmlns:a16="http://schemas.microsoft.com/office/drawing/2014/main" val="963215999"/>
                    </a:ext>
                  </a:extLst>
                </a:gridCol>
                <a:gridCol w="2922234">
                  <a:extLst>
                    <a:ext uri="{9D8B030D-6E8A-4147-A177-3AD203B41FA5}">
                      <a16:colId xmlns:a16="http://schemas.microsoft.com/office/drawing/2014/main" val="619653346"/>
                    </a:ext>
                  </a:extLst>
                </a:gridCol>
                <a:gridCol w="2922234">
                  <a:extLst>
                    <a:ext uri="{9D8B030D-6E8A-4147-A177-3AD203B41FA5}">
                      <a16:colId xmlns:a16="http://schemas.microsoft.com/office/drawing/2014/main" val="2478894002"/>
                    </a:ext>
                  </a:extLst>
                </a:gridCol>
              </a:tblGrid>
              <a:tr h="563656">
                <a:tc>
                  <a:txBody>
                    <a:bodyPr/>
                    <a:lstStyle/>
                    <a:p>
                      <a:pPr fontAlgn="t"/>
                      <a:r>
                        <a:rPr lang="fr-FR" sz="2200" dirty="0">
                          <a:effectLst/>
                        </a:rPr>
                        <a:t> </a:t>
                      </a:r>
                    </a:p>
                  </a:txBody>
                  <a:tcPr marL="115503" marR="115503" marT="115503" marB="1155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fr-FR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State</a:t>
                      </a:r>
                      <a:endParaRPr lang="fr-FR" sz="2200" dirty="0">
                        <a:effectLst/>
                      </a:endParaRPr>
                    </a:p>
                  </a:txBody>
                  <a:tcPr marL="115503" marR="115503" marT="115503" marB="115503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fr-FR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Strategy</a:t>
                      </a:r>
                      <a:endParaRPr lang="fr-FR" sz="2200" dirty="0">
                        <a:effectLst/>
                      </a:endParaRPr>
                    </a:p>
                  </a:txBody>
                  <a:tcPr marL="115503" marR="115503" marT="115503" marB="115503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0440244"/>
                  </a:ext>
                </a:extLst>
              </a:tr>
              <a:tr h="563656"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Context relationship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Context holds a reference to the current state.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Context uses one of the strategies to perform an operation.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6973210"/>
                  </a:ext>
                </a:extLst>
              </a:tr>
              <a:tr h="748462">
                <a:tc>
                  <a:txBody>
                    <a:bodyPr/>
                    <a:lstStyle/>
                    <a:p>
                      <a:pPr rtl="0" fontAlgn="t"/>
                      <a:r>
                        <a:rPr lang="fr-FR" sz="1400" b="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Implementation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b="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State classes can transition between each other.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b="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Strategies do not manage or know about each other.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4466339"/>
                  </a:ext>
                </a:extLst>
              </a:tr>
              <a:tr h="748462">
                <a:tc>
                  <a:txBody>
                    <a:bodyPr/>
                    <a:lstStyle/>
                    <a:p>
                      <a:pPr rtl="0" fontAlgn="t"/>
                      <a:r>
                        <a:rPr lang="fr-FR" sz="1400" b="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Change Trigger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Changes occur based on the state transitions (internal logic).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Changes are determined externally, often at runtime.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0184445"/>
                  </a:ext>
                </a:extLst>
              </a:tr>
              <a:tr h="748462">
                <a:tc>
                  <a:txBody>
                    <a:bodyPr/>
                    <a:lstStyle/>
                    <a:p>
                      <a:pPr rtl="0" fontAlgn="t"/>
                      <a:r>
                        <a:rPr lang="fr-FR" sz="1400" b="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Dynamic </a:t>
                      </a:r>
                      <a:r>
                        <a:rPr lang="fr-FR" sz="1400" b="0" dirty="0" err="1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Behavior</a:t>
                      </a:r>
                      <a:endParaRPr lang="en-US" sz="1400" b="0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b="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Focuses on managing behavioral changes over time.</a:t>
                      </a:r>
                      <a:endParaRPr lang="en-US" sz="1400" b="0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b="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Focuses on behavioral selection based on input or configuration.</a:t>
                      </a:r>
                      <a:endParaRPr lang="en-US" sz="1400" b="0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6526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0032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4B89B-579A-54D1-76AB-979974C51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A235B4A1-C35F-D417-6610-DB0C624DBD27}"/>
              </a:ext>
            </a:extLst>
          </p:cNvPr>
          <p:cNvSpPr txBox="1"/>
          <p:nvPr/>
        </p:nvSpPr>
        <p:spPr>
          <a:xfrm>
            <a:off x="3003428" y="136525"/>
            <a:ext cx="61851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3B3B5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Differences</a:t>
            </a:r>
            <a:endParaRPr lang="fr-FR" sz="4400" b="1" dirty="0">
              <a:solidFill>
                <a:srgbClr val="3B3B5B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10555CA-1EB1-C75A-0E59-8A7450F49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B3565-521F-4C94-BD9C-7BD2C4223877}" type="slidenum">
              <a:rPr lang="fr-FR" smtClean="0"/>
              <a:t>19</a:t>
            </a:fld>
            <a:endParaRPr lang="fr-FR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30E30558-C4A6-103E-86D1-2DC14F666537}"/>
              </a:ext>
            </a:extLst>
          </p:cNvPr>
          <p:cNvSpPr/>
          <p:nvPr/>
        </p:nvSpPr>
        <p:spPr>
          <a:xfrm>
            <a:off x="5437235" y="6538912"/>
            <a:ext cx="1317523" cy="45719"/>
          </a:xfrm>
          <a:prstGeom prst="roundRect">
            <a:avLst>
              <a:gd name="adj" fmla="val 50000"/>
            </a:avLst>
          </a:prstGeom>
          <a:solidFill>
            <a:srgbClr val="5454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4EB96DD3-B210-E457-D9DC-DE369ADE5BC1}"/>
              </a:ext>
            </a:extLst>
          </p:cNvPr>
          <p:cNvCxnSpPr/>
          <p:nvPr/>
        </p:nvCxnSpPr>
        <p:spPr>
          <a:xfrm>
            <a:off x="350786" y="1364272"/>
            <a:ext cx="0" cy="4310103"/>
          </a:xfrm>
          <a:prstGeom prst="line">
            <a:avLst/>
          </a:prstGeom>
          <a:ln>
            <a:solidFill>
              <a:srgbClr val="9292B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Ellipse 10">
            <a:extLst>
              <a:ext uri="{FF2B5EF4-FFF2-40B4-BE49-F238E27FC236}">
                <a16:creationId xmlns:a16="http://schemas.microsoft.com/office/drawing/2014/main" id="{722BBCB9-25CA-3BD3-8CE0-794198136A12}"/>
              </a:ext>
            </a:extLst>
          </p:cNvPr>
          <p:cNvSpPr/>
          <p:nvPr/>
        </p:nvSpPr>
        <p:spPr>
          <a:xfrm>
            <a:off x="147101" y="5493728"/>
            <a:ext cx="407370" cy="407370"/>
          </a:xfrm>
          <a:prstGeom prst="ellipse">
            <a:avLst/>
          </a:prstGeom>
          <a:solidFill>
            <a:srgbClr val="9292B8"/>
          </a:solidFill>
          <a:ln>
            <a:solidFill>
              <a:srgbClr val="54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9292B8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CFFFB5D-66CC-A475-ADBA-131D95EE969B}"/>
              </a:ext>
            </a:extLst>
          </p:cNvPr>
          <p:cNvSpPr txBox="1"/>
          <p:nvPr/>
        </p:nvSpPr>
        <p:spPr>
          <a:xfrm>
            <a:off x="-3482536" y="4744307"/>
            <a:ext cx="262644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Prompt" panose="00000800000000000000" pitchFamily="2" charset="-34"/>
              </a:rPr>
              <a:t>State Pattern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557FE95-2C52-E18E-61BB-74231C00D171}"/>
              </a:ext>
            </a:extLst>
          </p:cNvPr>
          <p:cNvSpPr txBox="1"/>
          <p:nvPr/>
        </p:nvSpPr>
        <p:spPr>
          <a:xfrm>
            <a:off x="-7099738" y="4744307"/>
            <a:ext cx="262644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Prompt" panose="00000800000000000000" pitchFamily="2" charset="-34"/>
              </a:rPr>
              <a:t>Strategy Pattern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1FC259B-7486-996E-1FD2-786397E2E4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0" r="7790"/>
          <a:stretch/>
        </p:blipFill>
        <p:spPr bwMode="auto">
          <a:xfrm>
            <a:off x="-7379482" y="2179454"/>
            <a:ext cx="3185928" cy="2358672"/>
          </a:xfrm>
          <a:prstGeom prst="roundRect">
            <a:avLst>
              <a:gd name="adj" fmla="val 13436"/>
            </a:avLst>
          </a:pr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38E932D9-6439-9C20-ABF1-0115800DA6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5" r="6824"/>
          <a:stretch/>
        </p:blipFill>
        <p:spPr bwMode="auto">
          <a:xfrm>
            <a:off x="-3762279" y="2179454"/>
            <a:ext cx="3185929" cy="2358672"/>
          </a:xfrm>
          <a:prstGeom prst="roundRect">
            <a:avLst/>
          </a:prstGeom>
          <a:noFill/>
          <a:ln>
            <a:solidFill>
              <a:srgbClr val="54548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24BE099A-078E-C1C4-BBB4-A3A18C961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830793"/>
              </p:ext>
            </p:extLst>
          </p:nvPr>
        </p:nvGraphicFramePr>
        <p:xfrm>
          <a:off x="1712649" y="1997296"/>
          <a:ext cx="8766702" cy="3928006"/>
        </p:xfrm>
        <a:graphic>
          <a:graphicData uri="http://schemas.openxmlformats.org/drawingml/2006/table">
            <a:tbl>
              <a:tblPr/>
              <a:tblGrid>
                <a:gridCol w="2922234">
                  <a:extLst>
                    <a:ext uri="{9D8B030D-6E8A-4147-A177-3AD203B41FA5}">
                      <a16:colId xmlns:a16="http://schemas.microsoft.com/office/drawing/2014/main" val="963215999"/>
                    </a:ext>
                  </a:extLst>
                </a:gridCol>
                <a:gridCol w="2922234">
                  <a:extLst>
                    <a:ext uri="{9D8B030D-6E8A-4147-A177-3AD203B41FA5}">
                      <a16:colId xmlns:a16="http://schemas.microsoft.com/office/drawing/2014/main" val="619653346"/>
                    </a:ext>
                  </a:extLst>
                </a:gridCol>
                <a:gridCol w="2922234">
                  <a:extLst>
                    <a:ext uri="{9D8B030D-6E8A-4147-A177-3AD203B41FA5}">
                      <a16:colId xmlns:a16="http://schemas.microsoft.com/office/drawing/2014/main" val="2478894002"/>
                    </a:ext>
                  </a:extLst>
                </a:gridCol>
              </a:tblGrid>
              <a:tr h="563656">
                <a:tc>
                  <a:txBody>
                    <a:bodyPr/>
                    <a:lstStyle/>
                    <a:p>
                      <a:pPr fontAlgn="t"/>
                      <a:r>
                        <a:rPr lang="fr-FR" sz="2200" dirty="0">
                          <a:effectLst/>
                        </a:rPr>
                        <a:t> </a:t>
                      </a:r>
                    </a:p>
                  </a:txBody>
                  <a:tcPr marL="115503" marR="115503" marT="115503" marB="1155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fr-FR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State</a:t>
                      </a:r>
                      <a:endParaRPr lang="fr-FR" sz="2200" dirty="0">
                        <a:effectLst/>
                      </a:endParaRPr>
                    </a:p>
                  </a:txBody>
                  <a:tcPr marL="115503" marR="115503" marT="115503" marB="115503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fr-F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Strategy</a:t>
                      </a:r>
                      <a:endParaRPr lang="fr-FR" sz="2200" dirty="0">
                        <a:effectLst/>
                      </a:endParaRPr>
                    </a:p>
                  </a:txBody>
                  <a:tcPr marL="115503" marR="115503" marT="115503" marB="115503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0440244"/>
                  </a:ext>
                </a:extLst>
              </a:tr>
              <a:tr h="563656"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Context relationship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Context holds a reference to the current state.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Context uses one of the strategies to perform an operation.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6973210"/>
                  </a:ext>
                </a:extLst>
              </a:tr>
              <a:tr h="748462">
                <a:tc>
                  <a:txBody>
                    <a:bodyPr/>
                    <a:lstStyle/>
                    <a:p>
                      <a:pPr rtl="0" fontAlgn="t"/>
                      <a:r>
                        <a:rPr lang="fr-FR" sz="1400" b="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Implementation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b="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State classes can transition between each other.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b="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Strategies do not manage or know about each other.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4466339"/>
                  </a:ext>
                </a:extLst>
              </a:tr>
              <a:tr h="748462">
                <a:tc>
                  <a:txBody>
                    <a:bodyPr/>
                    <a:lstStyle/>
                    <a:p>
                      <a:pPr rtl="0" fontAlgn="t"/>
                      <a:r>
                        <a:rPr lang="fr-FR" sz="1400" b="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Change Trigger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Changes occur based on the state transitions (internal logic).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Changes are determined externally, often at runtime.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0184445"/>
                  </a:ext>
                </a:extLst>
              </a:tr>
              <a:tr h="748462">
                <a:tc>
                  <a:txBody>
                    <a:bodyPr/>
                    <a:lstStyle/>
                    <a:p>
                      <a:pPr rtl="0" fontAlgn="t"/>
                      <a:r>
                        <a:rPr lang="fr-FR" sz="1400" b="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Dynamic </a:t>
                      </a:r>
                      <a:r>
                        <a:rPr lang="fr-FR" sz="1400" b="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Behavior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b="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Focuses on managing behavioral changes over time.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400" b="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Focuses on behavioral selection based on input or configuration.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15503" marR="115503" marT="115503" marB="115503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6526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7123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D4C12-1A8C-FA16-E741-15A9B1E13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3CFE99AA-D7FA-A091-E8D7-6CFC64A0CD5E}"/>
              </a:ext>
            </a:extLst>
          </p:cNvPr>
          <p:cNvSpPr txBox="1"/>
          <p:nvPr/>
        </p:nvSpPr>
        <p:spPr>
          <a:xfrm>
            <a:off x="3003428" y="136525"/>
            <a:ext cx="61851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3B3B5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Quiz time</a:t>
            </a:r>
            <a:endParaRPr lang="fr-FR" sz="4400" b="1" dirty="0">
              <a:solidFill>
                <a:srgbClr val="3B3B5B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D8BBC5A-94F4-8BFD-A518-1A3C8A90B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B3565-521F-4C94-BD9C-7BD2C4223877}" type="slidenum">
              <a:rPr lang="fr-FR" smtClean="0"/>
              <a:t>20</a:t>
            </a:fld>
            <a:endParaRPr lang="fr-FR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E6EAD826-7A90-98D7-61A4-26C7998558C3}"/>
              </a:ext>
            </a:extLst>
          </p:cNvPr>
          <p:cNvSpPr/>
          <p:nvPr/>
        </p:nvSpPr>
        <p:spPr>
          <a:xfrm>
            <a:off x="5437235" y="6538912"/>
            <a:ext cx="1317523" cy="45719"/>
          </a:xfrm>
          <a:prstGeom prst="roundRect">
            <a:avLst>
              <a:gd name="adj" fmla="val 50000"/>
            </a:avLst>
          </a:prstGeom>
          <a:solidFill>
            <a:srgbClr val="5454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48260B6F-F730-64A0-18E3-5C930DF0A092}"/>
              </a:ext>
            </a:extLst>
          </p:cNvPr>
          <p:cNvCxnSpPr/>
          <p:nvPr/>
        </p:nvCxnSpPr>
        <p:spPr>
          <a:xfrm>
            <a:off x="350786" y="1364272"/>
            <a:ext cx="0" cy="4310103"/>
          </a:xfrm>
          <a:prstGeom prst="line">
            <a:avLst/>
          </a:prstGeom>
          <a:ln>
            <a:solidFill>
              <a:srgbClr val="9292B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Ellipse 10">
            <a:extLst>
              <a:ext uri="{FF2B5EF4-FFF2-40B4-BE49-F238E27FC236}">
                <a16:creationId xmlns:a16="http://schemas.microsoft.com/office/drawing/2014/main" id="{50087331-7C6A-C2DE-1801-88752737C98D}"/>
              </a:ext>
            </a:extLst>
          </p:cNvPr>
          <p:cNvSpPr/>
          <p:nvPr/>
        </p:nvSpPr>
        <p:spPr>
          <a:xfrm>
            <a:off x="150276" y="1257928"/>
            <a:ext cx="407370" cy="407370"/>
          </a:xfrm>
          <a:prstGeom prst="ellipse">
            <a:avLst/>
          </a:prstGeom>
          <a:solidFill>
            <a:srgbClr val="9292B8"/>
          </a:solidFill>
          <a:ln>
            <a:solidFill>
              <a:srgbClr val="54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9292B8"/>
              </a:solidFill>
            </a:endParaRP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689C2AE7-C368-01BA-074A-F6C16B3F2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6627"/>
              </p:ext>
            </p:extLst>
          </p:nvPr>
        </p:nvGraphicFramePr>
        <p:xfrm>
          <a:off x="1712649" y="-3793812"/>
          <a:ext cx="8766702" cy="3331944"/>
        </p:xfrm>
        <a:graphic>
          <a:graphicData uri="http://schemas.openxmlformats.org/drawingml/2006/table">
            <a:tbl>
              <a:tblPr/>
              <a:tblGrid>
                <a:gridCol w="2922234">
                  <a:extLst>
                    <a:ext uri="{9D8B030D-6E8A-4147-A177-3AD203B41FA5}">
                      <a16:colId xmlns:a16="http://schemas.microsoft.com/office/drawing/2014/main" val="963215999"/>
                    </a:ext>
                  </a:extLst>
                </a:gridCol>
                <a:gridCol w="2922234">
                  <a:extLst>
                    <a:ext uri="{9D8B030D-6E8A-4147-A177-3AD203B41FA5}">
                      <a16:colId xmlns:a16="http://schemas.microsoft.com/office/drawing/2014/main" val="619653346"/>
                    </a:ext>
                  </a:extLst>
                </a:gridCol>
                <a:gridCol w="2922234">
                  <a:extLst>
                    <a:ext uri="{9D8B030D-6E8A-4147-A177-3AD203B41FA5}">
                      <a16:colId xmlns:a16="http://schemas.microsoft.com/office/drawing/2014/main" val="2478894002"/>
                    </a:ext>
                  </a:extLst>
                </a:gridCol>
              </a:tblGrid>
              <a:tr h="563656">
                <a:tc>
                  <a:txBody>
                    <a:bodyPr/>
                    <a:lstStyle/>
                    <a:p>
                      <a:pPr fontAlgn="t"/>
                      <a:r>
                        <a:rPr lang="fr-FR" sz="2200">
                          <a:effectLst/>
                        </a:rPr>
                        <a:t> </a:t>
                      </a: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Strategy</a:t>
                      </a:r>
                      <a:endParaRPr lang="fr-FR" sz="220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State</a:t>
                      </a:r>
                      <a:endParaRPr lang="fr-FR" sz="220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0440244"/>
                  </a:ext>
                </a:extLst>
              </a:tr>
              <a:tr h="748462">
                <a:tc>
                  <a:txBody>
                    <a:bodyPr/>
                    <a:lstStyle/>
                    <a:p>
                      <a:pPr rtl="0" fontAlgn="t"/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Ease to implement</a:t>
                      </a:r>
                      <a:endParaRPr lang="fr-FR" sz="220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require the creation of multiple classe</a:t>
                      </a:r>
                      <a:endParaRPr lang="en-US" sz="220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very simple</a:t>
                      </a:r>
                      <a:endParaRPr lang="fr-FR" sz="220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4466339"/>
                  </a:ext>
                </a:extLst>
              </a:tr>
              <a:tr h="748462">
                <a:tc>
                  <a:txBody>
                    <a:bodyPr/>
                    <a:lstStyle/>
                    <a:p>
                      <a:pPr rtl="0" fontAlgn="t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Ease to maintain and upgrade</a:t>
                      </a:r>
                      <a:endParaRPr lang="en-US" sz="2200" dirty="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very easy to manage and re-use</a:t>
                      </a:r>
                      <a:endParaRPr lang="en-US" sz="220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become complexe the more state there is</a:t>
                      </a:r>
                      <a:endParaRPr lang="en-US" sz="220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366011"/>
                  </a:ext>
                </a:extLst>
              </a:tr>
              <a:tr h="1265917">
                <a:tc>
                  <a:txBody>
                    <a:bodyPr/>
                    <a:lstStyle/>
                    <a:p>
                      <a:pPr rtl="0" fontAlgn="t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When should you use it ?</a:t>
                      </a:r>
                      <a:endParaRPr lang="en-US" sz="2200" dirty="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 situation where the objects that compose the strategy will be extensively used</a:t>
                      </a:r>
                      <a:endParaRPr lang="en-US" sz="220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 situation where there is a defined amount of state which won't evolve much</a:t>
                      </a:r>
                      <a:endParaRPr lang="en-US" sz="2200" dirty="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965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2645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7E5E3-F8C7-AD52-F47C-E478E269C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E0F550F5-1003-00C4-B447-00EE76FCD0AD}"/>
              </a:ext>
            </a:extLst>
          </p:cNvPr>
          <p:cNvSpPr txBox="1"/>
          <p:nvPr/>
        </p:nvSpPr>
        <p:spPr>
          <a:xfrm>
            <a:off x="3003428" y="136525"/>
            <a:ext cx="61851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3B3B5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Quiz time</a:t>
            </a:r>
            <a:endParaRPr lang="fr-FR" sz="4400" b="1" dirty="0">
              <a:solidFill>
                <a:srgbClr val="3B3B5B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31BFF6-AC56-C299-44CE-B6AA04058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B3565-521F-4C94-BD9C-7BD2C4223877}" type="slidenum">
              <a:rPr lang="fr-FR" smtClean="0"/>
              <a:t>21</a:t>
            </a:fld>
            <a:endParaRPr lang="fr-FR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E899E1E7-0F3D-17D1-4331-B872D3168FAD}"/>
              </a:ext>
            </a:extLst>
          </p:cNvPr>
          <p:cNvSpPr/>
          <p:nvPr/>
        </p:nvSpPr>
        <p:spPr>
          <a:xfrm>
            <a:off x="5437235" y="6538912"/>
            <a:ext cx="1317523" cy="45719"/>
          </a:xfrm>
          <a:prstGeom prst="roundRect">
            <a:avLst>
              <a:gd name="adj" fmla="val 50000"/>
            </a:avLst>
          </a:prstGeom>
          <a:solidFill>
            <a:srgbClr val="5454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ECFFA53C-0965-AF72-EF8F-C4815FCA3C94}"/>
              </a:ext>
            </a:extLst>
          </p:cNvPr>
          <p:cNvCxnSpPr/>
          <p:nvPr/>
        </p:nvCxnSpPr>
        <p:spPr>
          <a:xfrm>
            <a:off x="350786" y="1364272"/>
            <a:ext cx="0" cy="4310103"/>
          </a:xfrm>
          <a:prstGeom prst="line">
            <a:avLst/>
          </a:prstGeom>
          <a:ln>
            <a:solidFill>
              <a:srgbClr val="9292B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Ellipse 10">
            <a:extLst>
              <a:ext uri="{FF2B5EF4-FFF2-40B4-BE49-F238E27FC236}">
                <a16:creationId xmlns:a16="http://schemas.microsoft.com/office/drawing/2014/main" id="{292C112F-BBC6-89C7-1234-577898F1F5F4}"/>
              </a:ext>
            </a:extLst>
          </p:cNvPr>
          <p:cNvSpPr/>
          <p:nvPr/>
        </p:nvSpPr>
        <p:spPr>
          <a:xfrm>
            <a:off x="150276" y="1843704"/>
            <a:ext cx="407370" cy="407370"/>
          </a:xfrm>
          <a:prstGeom prst="ellipse">
            <a:avLst/>
          </a:prstGeom>
          <a:solidFill>
            <a:srgbClr val="9292B8"/>
          </a:solidFill>
          <a:ln>
            <a:solidFill>
              <a:srgbClr val="54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9292B8"/>
              </a:solidFill>
            </a:endParaRP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4D989392-F484-8F06-0196-5C7645115F25}"/>
              </a:ext>
            </a:extLst>
          </p:cNvPr>
          <p:cNvGraphicFramePr>
            <a:graphicFrameLocks noGrp="1"/>
          </p:cNvGraphicFramePr>
          <p:nvPr/>
        </p:nvGraphicFramePr>
        <p:xfrm>
          <a:off x="1712649" y="-3793812"/>
          <a:ext cx="8766702" cy="3331944"/>
        </p:xfrm>
        <a:graphic>
          <a:graphicData uri="http://schemas.openxmlformats.org/drawingml/2006/table">
            <a:tbl>
              <a:tblPr/>
              <a:tblGrid>
                <a:gridCol w="2922234">
                  <a:extLst>
                    <a:ext uri="{9D8B030D-6E8A-4147-A177-3AD203B41FA5}">
                      <a16:colId xmlns:a16="http://schemas.microsoft.com/office/drawing/2014/main" val="963215999"/>
                    </a:ext>
                  </a:extLst>
                </a:gridCol>
                <a:gridCol w="2922234">
                  <a:extLst>
                    <a:ext uri="{9D8B030D-6E8A-4147-A177-3AD203B41FA5}">
                      <a16:colId xmlns:a16="http://schemas.microsoft.com/office/drawing/2014/main" val="619653346"/>
                    </a:ext>
                  </a:extLst>
                </a:gridCol>
                <a:gridCol w="2922234">
                  <a:extLst>
                    <a:ext uri="{9D8B030D-6E8A-4147-A177-3AD203B41FA5}">
                      <a16:colId xmlns:a16="http://schemas.microsoft.com/office/drawing/2014/main" val="2478894002"/>
                    </a:ext>
                  </a:extLst>
                </a:gridCol>
              </a:tblGrid>
              <a:tr h="563656">
                <a:tc>
                  <a:txBody>
                    <a:bodyPr/>
                    <a:lstStyle/>
                    <a:p>
                      <a:pPr fontAlgn="t"/>
                      <a:r>
                        <a:rPr lang="fr-FR" sz="2200">
                          <a:effectLst/>
                        </a:rPr>
                        <a:t> </a:t>
                      </a: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Strategy</a:t>
                      </a:r>
                      <a:endParaRPr lang="fr-FR" sz="220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State</a:t>
                      </a:r>
                      <a:endParaRPr lang="fr-FR" sz="220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0440244"/>
                  </a:ext>
                </a:extLst>
              </a:tr>
              <a:tr h="748462">
                <a:tc>
                  <a:txBody>
                    <a:bodyPr/>
                    <a:lstStyle/>
                    <a:p>
                      <a:pPr rtl="0" fontAlgn="t"/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Ease to implement</a:t>
                      </a:r>
                      <a:endParaRPr lang="fr-FR" sz="220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require the creation of multiple classe</a:t>
                      </a:r>
                      <a:endParaRPr lang="en-US" sz="220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very simple</a:t>
                      </a:r>
                      <a:endParaRPr lang="fr-FR" sz="220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4466339"/>
                  </a:ext>
                </a:extLst>
              </a:tr>
              <a:tr h="748462">
                <a:tc>
                  <a:txBody>
                    <a:bodyPr/>
                    <a:lstStyle/>
                    <a:p>
                      <a:pPr rtl="0" fontAlgn="t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Ease to maintain and upgrade</a:t>
                      </a:r>
                      <a:endParaRPr lang="en-US" sz="2200" dirty="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very easy to manage and re-use</a:t>
                      </a:r>
                      <a:endParaRPr lang="en-US" sz="220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become complexe the more state there is</a:t>
                      </a:r>
                      <a:endParaRPr lang="en-US" sz="220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366011"/>
                  </a:ext>
                </a:extLst>
              </a:tr>
              <a:tr h="1265917">
                <a:tc>
                  <a:txBody>
                    <a:bodyPr/>
                    <a:lstStyle/>
                    <a:p>
                      <a:pPr rtl="0" fontAlgn="t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When should you use it ?</a:t>
                      </a:r>
                      <a:endParaRPr lang="en-US" sz="2200" dirty="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 situation where the objects that compose the strategy will be extensively used</a:t>
                      </a:r>
                      <a:endParaRPr lang="en-US" sz="220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 situation where there is a defined amount of state which won't evolve much</a:t>
                      </a:r>
                      <a:endParaRPr lang="en-US" sz="2200" dirty="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965571"/>
                  </a:ext>
                </a:extLst>
              </a:tr>
            </a:tbl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EEFFAC91-C02B-D870-FB0B-92372ABAC44A}"/>
              </a:ext>
            </a:extLst>
          </p:cNvPr>
          <p:cNvSpPr txBox="1"/>
          <p:nvPr/>
        </p:nvSpPr>
        <p:spPr>
          <a:xfrm>
            <a:off x="1619252" y="2251074"/>
            <a:ext cx="86296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rtl="0" fontAlgn="base">
              <a:spcAft>
                <a:spcPts val="600"/>
              </a:spcAft>
              <a:buFont typeface="+mj-lt"/>
              <a:buAutoNum type="arabicPeriod"/>
            </a:pPr>
            <a:r>
              <a:rPr lang="en-US" sz="2400" b="0" i="0" u="none" strike="noStrike" dirty="0">
                <a:solidFill>
                  <a:srgbClr val="595959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What is the type of design pattern that strategy and state pattern belong to? </a:t>
            </a:r>
          </a:p>
        </p:txBody>
      </p:sp>
    </p:spTree>
    <p:extLst>
      <p:ext uri="{BB962C8B-B14F-4D97-AF65-F5344CB8AC3E}">
        <p14:creationId xmlns:p14="http://schemas.microsoft.com/office/powerpoint/2010/main" val="4131580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2E1B9-DAE1-C7BA-1408-83CC8E2D9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58A1C7C-21CC-2D04-0CF8-B8BDEFAFFC8A}"/>
              </a:ext>
            </a:extLst>
          </p:cNvPr>
          <p:cNvSpPr txBox="1"/>
          <p:nvPr/>
        </p:nvSpPr>
        <p:spPr>
          <a:xfrm>
            <a:off x="3003428" y="136525"/>
            <a:ext cx="61851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3B3B5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Quiz time</a:t>
            </a:r>
            <a:endParaRPr lang="fr-FR" sz="4400" b="1" dirty="0">
              <a:solidFill>
                <a:srgbClr val="3B3B5B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27626C5-6A07-0E10-E0E7-646FE4C9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B3565-521F-4C94-BD9C-7BD2C4223877}" type="slidenum">
              <a:rPr lang="fr-FR" smtClean="0"/>
              <a:t>22</a:t>
            </a:fld>
            <a:endParaRPr lang="fr-FR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8BC20604-913F-CDF4-14BA-2D3C41301F17}"/>
              </a:ext>
            </a:extLst>
          </p:cNvPr>
          <p:cNvSpPr/>
          <p:nvPr/>
        </p:nvSpPr>
        <p:spPr>
          <a:xfrm>
            <a:off x="5437235" y="6538912"/>
            <a:ext cx="1317523" cy="45719"/>
          </a:xfrm>
          <a:prstGeom prst="roundRect">
            <a:avLst>
              <a:gd name="adj" fmla="val 50000"/>
            </a:avLst>
          </a:prstGeom>
          <a:solidFill>
            <a:srgbClr val="5454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BE423F01-55F9-9212-3503-6324CC21F592}"/>
              </a:ext>
            </a:extLst>
          </p:cNvPr>
          <p:cNvCxnSpPr/>
          <p:nvPr/>
        </p:nvCxnSpPr>
        <p:spPr>
          <a:xfrm>
            <a:off x="350786" y="1364272"/>
            <a:ext cx="0" cy="4310103"/>
          </a:xfrm>
          <a:prstGeom prst="line">
            <a:avLst/>
          </a:prstGeom>
          <a:ln>
            <a:solidFill>
              <a:srgbClr val="9292B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Ellipse 10">
            <a:extLst>
              <a:ext uri="{FF2B5EF4-FFF2-40B4-BE49-F238E27FC236}">
                <a16:creationId xmlns:a16="http://schemas.microsoft.com/office/drawing/2014/main" id="{379C20E2-2FF7-193E-6D13-BC21F7A67DF6}"/>
              </a:ext>
            </a:extLst>
          </p:cNvPr>
          <p:cNvSpPr/>
          <p:nvPr/>
        </p:nvSpPr>
        <p:spPr>
          <a:xfrm>
            <a:off x="150276" y="2251074"/>
            <a:ext cx="407370" cy="407370"/>
          </a:xfrm>
          <a:prstGeom prst="ellipse">
            <a:avLst/>
          </a:prstGeom>
          <a:solidFill>
            <a:srgbClr val="9292B8"/>
          </a:solidFill>
          <a:ln>
            <a:solidFill>
              <a:srgbClr val="54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9292B8"/>
              </a:solidFill>
            </a:endParaRP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D8EEAA7A-C34D-67F9-E50C-8A4DB4F85A86}"/>
              </a:ext>
            </a:extLst>
          </p:cNvPr>
          <p:cNvGraphicFramePr>
            <a:graphicFrameLocks noGrp="1"/>
          </p:cNvGraphicFramePr>
          <p:nvPr/>
        </p:nvGraphicFramePr>
        <p:xfrm>
          <a:off x="1712649" y="-3793812"/>
          <a:ext cx="8766702" cy="3331944"/>
        </p:xfrm>
        <a:graphic>
          <a:graphicData uri="http://schemas.openxmlformats.org/drawingml/2006/table">
            <a:tbl>
              <a:tblPr/>
              <a:tblGrid>
                <a:gridCol w="2922234">
                  <a:extLst>
                    <a:ext uri="{9D8B030D-6E8A-4147-A177-3AD203B41FA5}">
                      <a16:colId xmlns:a16="http://schemas.microsoft.com/office/drawing/2014/main" val="963215999"/>
                    </a:ext>
                  </a:extLst>
                </a:gridCol>
                <a:gridCol w="2922234">
                  <a:extLst>
                    <a:ext uri="{9D8B030D-6E8A-4147-A177-3AD203B41FA5}">
                      <a16:colId xmlns:a16="http://schemas.microsoft.com/office/drawing/2014/main" val="619653346"/>
                    </a:ext>
                  </a:extLst>
                </a:gridCol>
                <a:gridCol w="2922234">
                  <a:extLst>
                    <a:ext uri="{9D8B030D-6E8A-4147-A177-3AD203B41FA5}">
                      <a16:colId xmlns:a16="http://schemas.microsoft.com/office/drawing/2014/main" val="2478894002"/>
                    </a:ext>
                  </a:extLst>
                </a:gridCol>
              </a:tblGrid>
              <a:tr h="563656">
                <a:tc>
                  <a:txBody>
                    <a:bodyPr/>
                    <a:lstStyle/>
                    <a:p>
                      <a:pPr fontAlgn="t"/>
                      <a:r>
                        <a:rPr lang="fr-FR" sz="2200">
                          <a:effectLst/>
                        </a:rPr>
                        <a:t> </a:t>
                      </a: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Strategy</a:t>
                      </a:r>
                      <a:endParaRPr lang="fr-FR" sz="220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State</a:t>
                      </a:r>
                      <a:endParaRPr lang="fr-FR" sz="220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0440244"/>
                  </a:ext>
                </a:extLst>
              </a:tr>
              <a:tr h="748462">
                <a:tc>
                  <a:txBody>
                    <a:bodyPr/>
                    <a:lstStyle/>
                    <a:p>
                      <a:pPr rtl="0" fontAlgn="t"/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Ease to implement</a:t>
                      </a:r>
                      <a:endParaRPr lang="fr-FR" sz="220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require the creation of multiple classe</a:t>
                      </a:r>
                      <a:endParaRPr lang="en-US" sz="220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very simple</a:t>
                      </a:r>
                      <a:endParaRPr lang="fr-FR" sz="220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4466339"/>
                  </a:ext>
                </a:extLst>
              </a:tr>
              <a:tr h="748462">
                <a:tc>
                  <a:txBody>
                    <a:bodyPr/>
                    <a:lstStyle/>
                    <a:p>
                      <a:pPr rtl="0" fontAlgn="t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Ease to maintain and upgrade</a:t>
                      </a:r>
                      <a:endParaRPr lang="en-US" sz="2200" dirty="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very easy to manage and re-use</a:t>
                      </a:r>
                      <a:endParaRPr lang="en-US" sz="220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become complexe the more state there is</a:t>
                      </a:r>
                      <a:endParaRPr lang="en-US" sz="220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366011"/>
                  </a:ext>
                </a:extLst>
              </a:tr>
              <a:tr h="1265917">
                <a:tc>
                  <a:txBody>
                    <a:bodyPr/>
                    <a:lstStyle/>
                    <a:p>
                      <a:pPr rtl="0" fontAlgn="t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When should you use it ?</a:t>
                      </a:r>
                      <a:endParaRPr lang="en-US" sz="2200" dirty="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 situation where the objects that compose the strategy will be extensively used</a:t>
                      </a:r>
                      <a:endParaRPr lang="en-US" sz="220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 situation where there is a defined amount of state which won't evolve much</a:t>
                      </a:r>
                      <a:endParaRPr lang="en-US" sz="2200" dirty="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965571"/>
                  </a:ext>
                </a:extLst>
              </a:tr>
            </a:tbl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A5F822D3-E3D4-93F1-5758-0C781C4F4E8C}"/>
              </a:ext>
            </a:extLst>
          </p:cNvPr>
          <p:cNvSpPr txBox="1"/>
          <p:nvPr/>
        </p:nvSpPr>
        <p:spPr>
          <a:xfrm>
            <a:off x="1619252" y="2251074"/>
            <a:ext cx="86296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rtl="0" fontAlgn="base">
              <a:spcAft>
                <a:spcPts val="600"/>
              </a:spcAft>
              <a:buFont typeface="+mj-lt"/>
              <a:buAutoNum type="arabicPeriod"/>
            </a:pPr>
            <a:r>
              <a:rPr lang="en-US" sz="2400" b="0" i="0" u="none" strike="noStrike" dirty="0">
                <a:solidFill>
                  <a:srgbClr val="595959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What is the type of design pattern that strategy and state pattern belong to? 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44492A0-329E-7AA3-700E-49126B726A3B}"/>
              </a:ext>
            </a:extLst>
          </p:cNvPr>
          <p:cNvSpPr txBox="1"/>
          <p:nvPr/>
        </p:nvSpPr>
        <p:spPr>
          <a:xfrm>
            <a:off x="1712649" y="3359989"/>
            <a:ext cx="7824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strategy and state pattern are behavior pattern.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99199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85B0C-731D-1373-0DB7-20E554CF6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10E41833-9EED-FFA5-5E58-A67DCA4C0686}"/>
              </a:ext>
            </a:extLst>
          </p:cNvPr>
          <p:cNvSpPr txBox="1"/>
          <p:nvPr/>
        </p:nvSpPr>
        <p:spPr>
          <a:xfrm>
            <a:off x="3003428" y="136525"/>
            <a:ext cx="61851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3B3B5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Quiz time</a:t>
            </a:r>
            <a:endParaRPr lang="fr-FR" sz="4400" b="1" dirty="0">
              <a:solidFill>
                <a:srgbClr val="3B3B5B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5250326-DEFE-809F-F029-DD292F7A9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B3565-521F-4C94-BD9C-7BD2C4223877}" type="slidenum">
              <a:rPr lang="fr-FR" smtClean="0"/>
              <a:t>23</a:t>
            </a:fld>
            <a:endParaRPr lang="fr-FR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105C4C3F-AC66-9A42-AAFF-41CED1F1C8AD}"/>
              </a:ext>
            </a:extLst>
          </p:cNvPr>
          <p:cNvSpPr/>
          <p:nvPr/>
        </p:nvSpPr>
        <p:spPr>
          <a:xfrm>
            <a:off x="5437235" y="6538912"/>
            <a:ext cx="1317523" cy="45719"/>
          </a:xfrm>
          <a:prstGeom prst="roundRect">
            <a:avLst>
              <a:gd name="adj" fmla="val 50000"/>
            </a:avLst>
          </a:prstGeom>
          <a:solidFill>
            <a:srgbClr val="5454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BA9E2467-5B60-4DCD-D651-C4C8850EA937}"/>
              </a:ext>
            </a:extLst>
          </p:cNvPr>
          <p:cNvCxnSpPr/>
          <p:nvPr/>
        </p:nvCxnSpPr>
        <p:spPr>
          <a:xfrm>
            <a:off x="350786" y="1364272"/>
            <a:ext cx="0" cy="4310103"/>
          </a:xfrm>
          <a:prstGeom prst="line">
            <a:avLst/>
          </a:prstGeom>
          <a:ln>
            <a:solidFill>
              <a:srgbClr val="9292B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Ellipse 10">
            <a:extLst>
              <a:ext uri="{FF2B5EF4-FFF2-40B4-BE49-F238E27FC236}">
                <a16:creationId xmlns:a16="http://schemas.microsoft.com/office/drawing/2014/main" id="{08E37C0D-6072-5888-F77E-D18D75B86649}"/>
              </a:ext>
            </a:extLst>
          </p:cNvPr>
          <p:cNvSpPr/>
          <p:nvPr/>
        </p:nvSpPr>
        <p:spPr>
          <a:xfrm>
            <a:off x="150276" y="2890144"/>
            <a:ext cx="407370" cy="407370"/>
          </a:xfrm>
          <a:prstGeom prst="ellipse">
            <a:avLst/>
          </a:prstGeom>
          <a:solidFill>
            <a:srgbClr val="9292B8"/>
          </a:solidFill>
          <a:ln>
            <a:solidFill>
              <a:srgbClr val="54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9292B8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CCA0B7E-D33A-4C0D-1815-8BCEF0EEB84D}"/>
              </a:ext>
            </a:extLst>
          </p:cNvPr>
          <p:cNvSpPr txBox="1"/>
          <p:nvPr/>
        </p:nvSpPr>
        <p:spPr>
          <a:xfrm>
            <a:off x="1619252" y="2251074"/>
            <a:ext cx="86296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rtl="0" fontAlgn="base">
              <a:spcAft>
                <a:spcPts val="600"/>
              </a:spcAft>
              <a:buFont typeface="+mj-lt"/>
              <a:buAutoNum type="arabicPeriod" startAt="2"/>
            </a:pPr>
            <a:r>
              <a:rPr lang="en-US" sz="2400" dirty="0">
                <a:solidFill>
                  <a:srgbClr val="59595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Which pattern have the changes determined externally, often at runtime?</a:t>
            </a:r>
            <a:r>
              <a:rPr lang="en-US" sz="2400" b="0" i="0" u="none" strike="noStrike" dirty="0">
                <a:solidFill>
                  <a:srgbClr val="595959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endParaRPr lang="en-US" sz="2400" dirty="0">
              <a:solidFill>
                <a:srgbClr val="595959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03D4E01B-A66B-F92E-E58A-C403D2C57680}"/>
              </a:ext>
            </a:extLst>
          </p:cNvPr>
          <p:cNvGraphicFramePr>
            <a:graphicFrameLocks noGrp="1"/>
          </p:cNvGraphicFramePr>
          <p:nvPr/>
        </p:nvGraphicFramePr>
        <p:xfrm>
          <a:off x="1712649" y="-3793812"/>
          <a:ext cx="8766702" cy="3331944"/>
        </p:xfrm>
        <a:graphic>
          <a:graphicData uri="http://schemas.openxmlformats.org/drawingml/2006/table">
            <a:tbl>
              <a:tblPr/>
              <a:tblGrid>
                <a:gridCol w="2922234">
                  <a:extLst>
                    <a:ext uri="{9D8B030D-6E8A-4147-A177-3AD203B41FA5}">
                      <a16:colId xmlns:a16="http://schemas.microsoft.com/office/drawing/2014/main" val="963215999"/>
                    </a:ext>
                  </a:extLst>
                </a:gridCol>
                <a:gridCol w="2922234">
                  <a:extLst>
                    <a:ext uri="{9D8B030D-6E8A-4147-A177-3AD203B41FA5}">
                      <a16:colId xmlns:a16="http://schemas.microsoft.com/office/drawing/2014/main" val="619653346"/>
                    </a:ext>
                  </a:extLst>
                </a:gridCol>
                <a:gridCol w="2922234">
                  <a:extLst>
                    <a:ext uri="{9D8B030D-6E8A-4147-A177-3AD203B41FA5}">
                      <a16:colId xmlns:a16="http://schemas.microsoft.com/office/drawing/2014/main" val="2478894002"/>
                    </a:ext>
                  </a:extLst>
                </a:gridCol>
              </a:tblGrid>
              <a:tr h="563656">
                <a:tc>
                  <a:txBody>
                    <a:bodyPr/>
                    <a:lstStyle/>
                    <a:p>
                      <a:pPr fontAlgn="t"/>
                      <a:r>
                        <a:rPr lang="fr-FR" sz="2200">
                          <a:effectLst/>
                        </a:rPr>
                        <a:t> </a:t>
                      </a: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Strategy</a:t>
                      </a:r>
                      <a:endParaRPr lang="fr-FR" sz="220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State</a:t>
                      </a:r>
                      <a:endParaRPr lang="fr-FR" sz="220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0440244"/>
                  </a:ext>
                </a:extLst>
              </a:tr>
              <a:tr h="748462">
                <a:tc>
                  <a:txBody>
                    <a:bodyPr/>
                    <a:lstStyle/>
                    <a:p>
                      <a:pPr rtl="0" fontAlgn="t"/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Ease to implement</a:t>
                      </a:r>
                      <a:endParaRPr lang="fr-FR" sz="220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require the creation of multiple classe</a:t>
                      </a:r>
                      <a:endParaRPr lang="en-US" sz="220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very simple</a:t>
                      </a:r>
                      <a:endParaRPr lang="fr-FR" sz="220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4466339"/>
                  </a:ext>
                </a:extLst>
              </a:tr>
              <a:tr h="748462">
                <a:tc>
                  <a:txBody>
                    <a:bodyPr/>
                    <a:lstStyle/>
                    <a:p>
                      <a:pPr rtl="0" fontAlgn="t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Ease to maintain and upgrade</a:t>
                      </a:r>
                      <a:endParaRPr lang="en-US" sz="2200" dirty="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very easy to manage and re-use</a:t>
                      </a:r>
                      <a:endParaRPr lang="en-US" sz="220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become complexe the more state there is</a:t>
                      </a:r>
                      <a:endParaRPr lang="en-US" sz="220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366011"/>
                  </a:ext>
                </a:extLst>
              </a:tr>
              <a:tr h="1265917">
                <a:tc>
                  <a:txBody>
                    <a:bodyPr/>
                    <a:lstStyle/>
                    <a:p>
                      <a:pPr rtl="0" fontAlgn="t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When should you use it ?</a:t>
                      </a:r>
                      <a:endParaRPr lang="en-US" sz="2200" dirty="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 situation where the objects that compose the strategy will be extensively used</a:t>
                      </a:r>
                      <a:endParaRPr lang="en-US" sz="220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 situation where there is a defined amount of state which won't evolve much</a:t>
                      </a:r>
                      <a:endParaRPr lang="en-US" sz="2200" dirty="0">
                        <a:effectLst/>
                      </a:endParaRPr>
                    </a:p>
                  </a:txBody>
                  <a:tcPr marL="115503" marR="115503" marT="115503" marB="1155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965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52429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806D0-8F10-AC54-1A13-4E7F330D0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78C8C8CF-EA30-BC9B-8B5B-3485DC2ECBF6}"/>
              </a:ext>
            </a:extLst>
          </p:cNvPr>
          <p:cNvSpPr txBox="1"/>
          <p:nvPr/>
        </p:nvSpPr>
        <p:spPr>
          <a:xfrm>
            <a:off x="3003428" y="136525"/>
            <a:ext cx="61851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3B3B5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Quiz time</a:t>
            </a:r>
            <a:endParaRPr lang="fr-FR" sz="4400" b="1" dirty="0">
              <a:solidFill>
                <a:srgbClr val="3B3B5B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FFCE246-87C5-B691-511A-182343E5A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B3565-521F-4C94-BD9C-7BD2C4223877}" type="slidenum">
              <a:rPr lang="fr-FR" smtClean="0"/>
              <a:t>24</a:t>
            </a:fld>
            <a:endParaRPr lang="fr-FR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F7076F81-6565-4D8E-205C-0E4ACD5A081A}"/>
              </a:ext>
            </a:extLst>
          </p:cNvPr>
          <p:cNvSpPr/>
          <p:nvPr/>
        </p:nvSpPr>
        <p:spPr>
          <a:xfrm>
            <a:off x="5437235" y="6538912"/>
            <a:ext cx="1317523" cy="45719"/>
          </a:xfrm>
          <a:prstGeom prst="roundRect">
            <a:avLst>
              <a:gd name="adj" fmla="val 50000"/>
            </a:avLst>
          </a:prstGeom>
          <a:solidFill>
            <a:srgbClr val="5454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B832044A-844E-A93A-CAD3-28DFAEC06A74}"/>
              </a:ext>
            </a:extLst>
          </p:cNvPr>
          <p:cNvCxnSpPr/>
          <p:nvPr/>
        </p:nvCxnSpPr>
        <p:spPr>
          <a:xfrm>
            <a:off x="350786" y="1364272"/>
            <a:ext cx="0" cy="4310103"/>
          </a:xfrm>
          <a:prstGeom prst="line">
            <a:avLst/>
          </a:prstGeom>
          <a:ln>
            <a:solidFill>
              <a:srgbClr val="9292B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Ellipse 10">
            <a:extLst>
              <a:ext uri="{FF2B5EF4-FFF2-40B4-BE49-F238E27FC236}">
                <a16:creationId xmlns:a16="http://schemas.microsoft.com/office/drawing/2014/main" id="{02B2D653-BC14-2732-FE89-BF039AAC7CEA}"/>
              </a:ext>
            </a:extLst>
          </p:cNvPr>
          <p:cNvSpPr/>
          <p:nvPr/>
        </p:nvSpPr>
        <p:spPr>
          <a:xfrm>
            <a:off x="150276" y="3315638"/>
            <a:ext cx="407370" cy="407370"/>
          </a:xfrm>
          <a:prstGeom prst="ellipse">
            <a:avLst/>
          </a:prstGeom>
          <a:solidFill>
            <a:srgbClr val="9292B8"/>
          </a:solidFill>
          <a:ln>
            <a:solidFill>
              <a:srgbClr val="54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9292B8"/>
              </a:solidFill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4894E2A-B10D-1048-867C-CE98BC0F0F80}"/>
              </a:ext>
            </a:extLst>
          </p:cNvPr>
          <p:cNvSpPr txBox="1"/>
          <p:nvPr/>
        </p:nvSpPr>
        <p:spPr>
          <a:xfrm>
            <a:off x="1619252" y="2251074"/>
            <a:ext cx="86296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fontAlgn="base">
              <a:spcAft>
                <a:spcPts val="600"/>
              </a:spcAft>
              <a:buFont typeface="+mj-lt"/>
              <a:buAutoNum type="arabicPeriod" startAt="2"/>
            </a:pPr>
            <a:r>
              <a:rPr lang="en-US" sz="2400" dirty="0">
                <a:solidFill>
                  <a:srgbClr val="59595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Which pattern have the changes determined externally, often at runtime?</a:t>
            </a:r>
            <a:r>
              <a:rPr lang="en-US" sz="2400" b="0" i="0" u="none" strike="noStrike" dirty="0">
                <a:solidFill>
                  <a:srgbClr val="595959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endParaRPr lang="en-US" sz="2400" dirty="0">
              <a:solidFill>
                <a:srgbClr val="595959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E493743-E377-68CC-7C6B-C348C72A511F}"/>
              </a:ext>
            </a:extLst>
          </p:cNvPr>
          <p:cNvSpPr txBox="1"/>
          <p:nvPr/>
        </p:nvSpPr>
        <p:spPr>
          <a:xfrm>
            <a:off x="1619251" y="3519323"/>
            <a:ext cx="75693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Aft>
                <a:spcPts val="600"/>
              </a:spcAft>
            </a:pP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In the strategy pattern, changes are determinate externally, </a:t>
            </a:r>
            <a:r>
              <a:rPr lang="en-US" sz="1800" dirty="0">
                <a:solidFill>
                  <a:srgbClr val="59595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often at runtime.</a:t>
            </a:r>
          </a:p>
        </p:txBody>
      </p:sp>
    </p:spTree>
    <p:extLst>
      <p:ext uri="{BB962C8B-B14F-4D97-AF65-F5344CB8AC3E}">
        <p14:creationId xmlns:p14="http://schemas.microsoft.com/office/powerpoint/2010/main" val="1910855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89DCA-46B4-26F6-1E05-73B2465EF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37A62255-9AE7-FDD4-0917-0F932DDFBAF5}"/>
              </a:ext>
            </a:extLst>
          </p:cNvPr>
          <p:cNvSpPr txBox="1"/>
          <p:nvPr/>
        </p:nvSpPr>
        <p:spPr>
          <a:xfrm>
            <a:off x="3003428" y="136525"/>
            <a:ext cx="61851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3B3B5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Quiz time</a:t>
            </a:r>
            <a:endParaRPr lang="fr-FR" sz="4400" b="1" dirty="0">
              <a:solidFill>
                <a:srgbClr val="3B3B5B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C0A38F7-737D-1822-B073-3F62C19C4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B3565-521F-4C94-BD9C-7BD2C4223877}" type="slidenum">
              <a:rPr lang="fr-FR" smtClean="0"/>
              <a:t>25</a:t>
            </a:fld>
            <a:endParaRPr lang="fr-FR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BF588081-F1AB-CAF1-0EBE-8E7B71496098}"/>
              </a:ext>
            </a:extLst>
          </p:cNvPr>
          <p:cNvSpPr/>
          <p:nvPr/>
        </p:nvSpPr>
        <p:spPr>
          <a:xfrm>
            <a:off x="5437235" y="6538912"/>
            <a:ext cx="1317523" cy="45719"/>
          </a:xfrm>
          <a:prstGeom prst="roundRect">
            <a:avLst>
              <a:gd name="adj" fmla="val 50000"/>
            </a:avLst>
          </a:prstGeom>
          <a:solidFill>
            <a:srgbClr val="5454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FA102DD4-0DB9-275F-494C-10A5C7675B0C}"/>
              </a:ext>
            </a:extLst>
          </p:cNvPr>
          <p:cNvCxnSpPr/>
          <p:nvPr/>
        </p:nvCxnSpPr>
        <p:spPr>
          <a:xfrm>
            <a:off x="350786" y="1364272"/>
            <a:ext cx="0" cy="4310103"/>
          </a:xfrm>
          <a:prstGeom prst="line">
            <a:avLst/>
          </a:prstGeom>
          <a:ln>
            <a:solidFill>
              <a:srgbClr val="9292B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Ellipse 10">
            <a:extLst>
              <a:ext uri="{FF2B5EF4-FFF2-40B4-BE49-F238E27FC236}">
                <a16:creationId xmlns:a16="http://schemas.microsoft.com/office/drawing/2014/main" id="{AB31A715-8A81-AE5F-CD7F-0889BDF56C38}"/>
              </a:ext>
            </a:extLst>
          </p:cNvPr>
          <p:cNvSpPr/>
          <p:nvPr/>
        </p:nvSpPr>
        <p:spPr>
          <a:xfrm>
            <a:off x="150276" y="3851440"/>
            <a:ext cx="407370" cy="407370"/>
          </a:xfrm>
          <a:prstGeom prst="ellipse">
            <a:avLst/>
          </a:prstGeom>
          <a:solidFill>
            <a:srgbClr val="9292B8"/>
          </a:solidFill>
          <a:ln>
            <a:solidFill>
              <a:srgbClr val="54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9292B8"/>
              </a:solidFill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CD9B2F4-CF88-2BF7-553F-04F618ADA385}"/>
              </a:ext>
            </a:extLst>
          </p:cNvPr>
          <p:cNvSpPr txBox="1"/>
          <p:nvPr/>
        </p:nvSpPr>
        <p:spPr>
          <a:xfrm>
            <a:off x="1619252" y="2251074"/>
            <a:ext cx="8629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rtl="0" fontAlgn="base">
              <a:spcAft>
                <a:spcPts val="600"/>
              </a:spcAft>
              <a:buFont typeface="+mj-lt"/>
              <a:buAutoNum type="arabicPeriod" startAt="3"/>
            </a:pPr>
            <a:r>
              <a:rPr lang="en-US" sz="2400" dirty="0">
                <a:solidFill>
                  <a:srgbClr val="59595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How can the State pattern be perceived?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fr-FR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1798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2C4E7-CA47-1C41-D26A-F25F031EC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0E6C5139-5B58-D311-C291-FA79CC65F9B7}"/>
              </a:ext>
            </a:extLst>
          </p:cNvPr>
          <p:cNvSpPr txBox="1"/>
          <p:nvPr/>
        </p:nvSpPr>
        <p:spPr>
          <a:xfrm>
            <a:off x="3003428" y="136525"/>
            <a:ext cx="61851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3B3B5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Quiz time</a:t>
            </a:r>
            <a:endParaRPr lang="fr-FR" sz="4400" b="1" dirty="0">
              <a:solidFill>
                <a:srgbClr val="3B3B5B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0CF1F1F-3DE7-901C-CFB1-541BC2C10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B3565-521F-4C94-BD9C-7BD2C4223877}" type="slidenum">
              <a:rPr lang="fr-FR" smtClean="0"/>
              <a:t>26</a:t>
            </a:fld>
            <a:endParaRPr lang="fr-FR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A9AD9F04-9777-8909-0B77-D1F65AB6B2F1}"/>
              </a:ext>
            </a:extLst>
          </p:cNvPr>
          <p:cNvSpPr/>
          <p:nvPr/>
        </p:nvSpPr>
        <p:spPr>
          <a:xfrm>
            <a:off x="5437235" y="6538912"/>
            <a:ext cx="1317523" cy="45719"/>
          </a:xfrm>
          <a:prstGeom prst="roundRect">
            <a:avLst>
              <a:gd name="adj" fmla="val 50000"/>
            </a:avLst>
          </a:prstGeom>
          <a:solidFill>
            <a:srgbClr val="5454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F7484D71-36B1-E34F-8C46-64F9D0E59BED}"/>
              </a:ext>
            </a:extLst>
          </p:cNvPr>
          <p:cNvCxnSpPr/>
          <p:nvPr/>
        </p:nvCxnSpPr>
        <p:spPr>
          <a:xfrm>
            <a:off x="350786" y="1364272"/>
            <a:ext cx="0" cy="4310103"/>
          </a:xfrm>
          <a:prstGeom prst="line">
            <a:avLst/>
          </a:prstGeom>
          <a:ln>
            <a:solidFill>
              <a:srgbClr val="9292B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Ellipse 10">
            <a:extLst>
              <a:ext uri="{FF2B5EF4-FFF2-40B4-BE49-F238E27FC236}">
                <a16:creationId xmlns:a16="http://schemas.microsoft.com/office/drawing/2014/main" id="{673C1BB5-9285-CB26-6AED-7C541772D4B9}"/>
              </a:ext>
            </a:extLst>
          </p:cNvPr>
          <p:cNvSpPr/>
          <p:nvPr/>
        </p:nvSpPr>
        <p:spPr>
          <a:xfrm>
            <a:off x="150276" y="4767912"/>
            <a:ext cx="407370" cy="407370"/>
          </a:xfrm>
          <a:prstGeom prst="ellipse">
            <a:avLst/>
          </a:prstGeom>
          <a:solidFill>
            <a:srgbClr val="9292B8"/>
          </a:solidFill>
          <a:ln>
            <a:solidFill>
              <a:srgbClr val="54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9292B8"/>
              </a:soli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D24303D-C12B-1C01-1EFE-D5FC6C5B0DDC}"/>
              </a:ext>
            </a:extLst>
          </p:cNvPr>
          <p:cNvSpPr txBox="1"/>
          <p:nvPr/>
        </p:nvSpPr>
        <p:spPr>
          <a:xfrm>
            <a:off x="1619252" y="2251074"/>
            <a:ext cx="8629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rtl="0" fontAlgn="base">
              <a:spcAft>
                <a:spcPts val="600"/>
              </a:spcAft>
              <a:buFont typeface="+mj-lt"/>
              <a:buAutoNum type="arabicPeriod" startAt="3"/>
            </a:pPr>
            <a:r>
              <a:rPr lang="en-US" sz="2400" dirty="0">
                <a:solidFill>
                  <a:srgbClr val="59595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How can the State pattern be perceived?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fr-FR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52363ED-B362-4956-F0F3-32B1BD196199}"/>
              </a:ext>
            </a:extLst>
          </p:cNvPr>
          <p:cNvSpPr txBox="1"/>
          <p:nvPr/>
        </p:nvSpPr>
        <p:spPr>
          <a:xfrm>
            <a:off x="1619251" y="3565048"/>
            <a:ext cx="75693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Aft>
                <a:spcPts val="600"/>
              </a:spcAft>
            </a:pPr>
            <a:r>
              <a:rPr lang="en-US" sz="1800" dirty="0">
                <a:solidFill>
                  <a:srgbClr val="59595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It can be seen as an opinionated version of the Strategy pattern.</a:t>
            </a:r>
            <a:endParaRPr lang="fr-FR" sz="1800" dirty="0">
              <a:solidFill>
                <a:srgbClr val="595959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1950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27A1B-C301-09AF-1C8F-568147F0D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482B141D-F3D4-BBA2-056A-7D3B716BB044}"/>
              </a:ext>
            </a:extLst>
          </p:cNvPr>
          <p:cNvSpPr txBox="1"/>
          <p:nvPr/>
        </p:nvSpPr>
        <p:spPr>
          <a:xfrm>
            <a:off x="1168335" y="273369"/>
            <a:ext cx="985532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3B3B5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Thank you for your attentions</a:t>
            </a:r>
            <a:endParaRPr lang="fr-FR" sz="4400" b="1" dirty="0">
              <a:solidFill>
                <a:srgbClr val="3B3B5B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02CAA8A-ED08-93E6-7982-5502F997D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B3565-521F-4C94-BD9C-7BD2C4223877}" type="slidenum">
              <a:rPr lang="fr-FR" smtClean="0"/>
              <a:t>27</a:t>
            </a:fld>
            <a:endParaRPr lang="fr-FR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AF4E2B60-A18B-2647-C12C-ECDA167514BF}"/>
              </a:ext>
            </a:extLst>
          </p:cNvPr>
          <p:cNvSpPr/>
          <p:nvPr/>
        </p:nvSpPr>
        <p:spPr>
          <a:xfrm>
            <a:off x="5437235" y="6538912"/>
            <a:ext cx="1317523" cy="45719"/>
          </a:xfrm>
          <a:prstGeom prst="roundRect">
            <a:avLst>
              <a:gd name="adj" fmla="val 50000"/>
            </a:avLst>
          </a:prstGeom>
          <a:solidFill>
            <a:srgbClr val="5454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AF01D3BE-8B56-6F2B-7147-98D27547BDA0}"/>
              </a:ext>
            </a:extLst>
          </p:cNvPr>
          <p:cNvCxnSpPr/>
          <p:nvPr/>
        </p:nvCxnSpPr>
        <p:spPr>
          <a:xfrm>
            <a:off x="350786" y="1364272"/>
            <a:ext cx="0" cy="4310103"/>
          </a:xfrm>
          <a:prstGeom prst="line">
            <a:avLst/>
          </a:prstGeom>
          <a:ln>
            <a:solidFill>
              <a:srgbClr val="9292B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Ellipse 10">
            <a:extLst>
              <a:ext uri="{FF2B5EF4-FFF2-40B4-BE49-F238E27FC236}">
                <a16:creationId xmlns:a16="http://schemas.microsoft.com/office/drawing/2014/main" id="{E16D7C14-EFA5-B71B-B4F4-7675EDC8CEAF}"/>
              </a:ext>
            </a:extLst>
          </p:cNvPr>
          <p:cNvSpPr/>
          <p:nvPr/>
        </p:nvSpPr>
        <p:spPr>
          <a:xfrm>
            <a:off x="150276" y="5470690"/>
            <a:ext cx="407370" cy="407370"/>
          </a:xfrm>
          <a:prstGeom prst="ellipse">
            <a:avLst/>
          </a:prstGeom>
          <a:solidFill>
            <a:srgbClr val="9292B8"/>
          </a:solidFill>
          <a:ln>
            <a:solidFill>
              <a:srgbClr val="545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9292B8"/>
              </a:solidFill>
            </a:endParaRPr>
          </a:p>
        </p:txBody>
      </p:sp>
      <p:sp>
        <p:nvSpPr>
          <p:cNvPr id="2" name="Google Shape;333;p41">
            <a:extLst>
              <a:ext uri="{FF2B5EF4-FFF2-40B4-BE49-F238E27FC236}">
                <a16:creationId xmlns:a16="http://schemas.microsoft.com/office/drawing/2014/main" id="{DDCC19CE-A2D9-B7C0-89D0-797C6404BB90}"/>
              </a:ext>
            </a:extLst>
          </p:cNvPr>
          <p:cNvSpPr txBox="1">
            <a:spLocks/>
          </p:cNvSpPr>
          <p:nvPr/>
        </p:nvSpPr>
        <p:spPr>
          <a:xfrm>
            <a:off x="1493885" y="2207290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Sources 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0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</a:rPr>
              <a:t>Kotlin Design Patterns and Best Practices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by Alexey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Soshin</a:t>
            </a:r>
            <a:endParaRPr lang="en-US" sz="20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  <a:hlinkClick r:id="rId2"/>
              </a:rPr>
              <a:t>https://refactoring.guru/fr/design-patterns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for the images</a:t>
            </a: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9094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1150</Words>
  <Application>Microsoft Office PowerPoint</Application>
  <PresentationFormat>Grand écran</PresentationFormat>
  <Paragraphs>248</Paragraphs>
  <Slides>27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2" baseType="lpstr">
      <vt:lpstr>Aptos</vt:lpstr>
      <vt:lpstr>Aptos Display</vt:lpstr>
      <vt:lpstr>Arial</vt:lpstr>
      <vt:lpstr>Verdana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Theo Phan</dc:creator>
  <cp:lastModifiedBy>Theo Phan</cp:lastModifiedBy>
  <cp:revision>5</cp:revision>
  <dcterms:created xsi:type="dcterms:W3CDTF">2024-12-01T15:40:27Z</dcterms:created>
  <dcterms:modified xsi:type="dcterms:W3CDTF">2024-12-01T23:13:21Z</dcterms:modified>
</cp:coreProperties>
</file>